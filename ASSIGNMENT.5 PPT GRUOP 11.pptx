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3">
  <p:sldMasterIdLst>
    <p:sldMasterId id="2147483648" r:id="rId1"/>
  </p:sldMasterIdLst>
  <p:notesMasterIdLst>
    <p:notesMasterId r:id="rId21"/>
  </p:notesMasterIdLst>
  <p:sldIdLst>
    <p:sldId id="256" r:id="rId2"/>
    <p:sldId id="266" r:id="rId3"/>
    <p:sldId id="257" r:id="rId4"/>
    <p:sldId id="258" r:id="rId5"/>
    <p:sldId id="259" r:id="rId6"/>
    <p:sldId id="267" r:id="rId7"/>
    <p:sldId id="260" r:id="rId8"/>
    <p:sldId id="278" r:id="rId9"/>
    <p:sldId id="261" r:id="rId10"/>
    <p:sldId id="272" r:id="rId11"/>
    <p:sldId id="271" r:id="rId12"/>
    <p:sldId id="262" r:id="rId13"/>
    <p:sldId id="273" r:id="rId14"/>
    <p:sldId id="264" r:id="rId15"/>
    <p:sldId id="274" r:id="rId16"/>
    <p:sldId id="275" r:id="rId17"/>
    <p:sldId id="276" r:id="rId18"/>
    <p:sldId id="277" r:id="rId19"/>
    <p:sldId id="26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236" y="-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92024-C2C5-4E69-8B88-4CDB6C45EAE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64049-D2FA-44D9-AD6E-8B6D18976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22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A64049-D2FA-44D9-AD6E-8B6D189764E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MATLAB OOP Numerical Methods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Developed using Classes, Inheritance, Encapsulation, Polymorphism, and Abstraction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9659228"/>
              </p:ext>
            </p:extLst>
          </p:nvPr>
        </p:nvGraphicFramePr>
        <p:xfrm>
          <a:off x="1069145" y="1730326"/>
          <a:ext cx="7104184" cy="42625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68912">
                  <a:extLst>
                    <a:ext uri="{9D8B030D-6E8A-4147-A177-3AD203B41FA5}">
                      <a16:colId xmlns:a16="http://schemas.microsoft.com/office/drawing/2014/main" val="2715420922"/>
                    </a:ext>
                  </a:extLst>
                </a:gridCol>
                <a:gridCol w="2075883">
                  <a:extLst>
                    <a:ext uri="{9D8B030D-6E8A-4147-A177-3AD203B41FA5}">
                      <a16:colId xmlns:a16="http://schemas.microsoft.com/office/drawing/2014/main" val="1541777916"/>
                    </a:ext>
                  </a:extLst>
                </a:gridCol>
                <a:gridCol w="1777011">
                  <a:extLst>
                    <a:ext uri="{9D8B030D-6E8A-4147-A177-3AD203B41FA5}">
                      <a16:colId xmlns:a16="http://schemas.microsoft.com/office/drawing/2014/main" val="3224527253"/>
                    </a:ext>
                  </a:extLst>
                </a:gridCol>
                <a:gridCol w="1382378">
                  <a:extLst>
                    <a:ext uri="{9D8B030D-6E8A-4147-A177-3AD203B41FA5}">
                      <a16:colId xmlns:a16="http://schemas.microsoft.com/office/drawing/2014/main" val="1012534617"/>
                    </a:ext>
                  </a:extLst>
                </a:gridCol>
              </a:tblGrid>
              <a:tr h="574812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NAME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REGISTRATION NUMBER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PROGRAM OF STUDY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SIGNATURE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9789436"/>
                  </a:ext>
                </a:extLst>
              </a:tr>
              <a:tr h="574812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MUKYALA ROSE MIIRIAM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BU/UP/2024/1041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WAR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0725010"/>
                  </a:ext>
                </a:extLst>
              </a:tr>
              <a:tr h="574812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OGWANG EMMANUEL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BU/UP/2024/3254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WAR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9822369"/>
                  </a:ext>
                </a:extLst>
              </a:tr>
              <a:tr h="280466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 dirty="0">
                          <a:effectLst/>
                        </a:rPr>
                        <a:t>NSAMBA SHAFFIC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BU/UP/2024/5346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MEB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3353226"/>
                  </a:ext>
                </a:extLst>
              </a:tr>
              <a:tr h="280466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KAGODA ENOCK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BU/UP/2023/1097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WAR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1945996"/>
                  </a:ext>
                </a:extLst>
              </a:tr>
              <a:tr h="280466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BUSUULWA HASSAN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BU/UP/2024/3732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AMI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1037905"/>
                  </a:ext>
                </a:extLst>
              </a:tr>
              <a:tr h="280466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WAMBI KENNETH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BU/UP/2023/0950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PTI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0429925"/>
                  </a:ext>
                </a:extLst>
              </a:tr>
              <a:tr h="280466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ATWIINE SANDRAH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BU/UG/2024/2632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MEB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7722014"/>
                  </a:ext>
                </a:extLst>
              </a:tr>
              <a:tr h="574812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ABESIGA KEITH ADAMS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BU/UP/2024/3974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AMI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7402765"/>
                  </a:ext>
                </a:extLst>
              </a:tr>
              <a:tr h="280466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WASSWA FRANCIS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BU/UG/2024/2669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APE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50762410"/>
                  </a:ext>
                </a:extLst>
              </a:tr>
              <a:tr h="280466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NANDERA JULIET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BU/UP/2024/1047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WAR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3026838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0" y="461442"/>
            <a:ext cx="9144000" cy="769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20" tIns="152352" rIns="91440" bIns="0" numCol="1" anchor="ctr" anchorCtr="0" compatLnSpc="1">
            <a:prstTxWarp prst="textNoShape">
              <a:avLst/>
            </a:prstTxWarp>
            <a:spAutoFit/>
          </a:bodyPr>
          <a:lstStyle>
            <a:lvl1pPr indent="6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6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 smtClean="0" bmk="_Toc212537043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  <a:r>
              <a:rPr kumimoji="0" lang="en-US" altLang="en-US" sz="2000" b="0" i="0" u="none" strike="noStrike" cap="none" normalizeH="0" baseline="0" dirty="0" smtClean="0" bmk="_Toc212537043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 ELEVEN MEMBERS.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6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215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• To develop a modular MATLAB application using Object-Oriented Programming (OOP).</a:t>
            </a:r>
          </a:p>
          <a:p>
            <a:r>
              <a:rPr dirty="0"/>
              <a:t>• Implement numerical methods for solving computational problems.</a:t>
            </a:r>
          </a:p>
          <a:p>
            <a:r>
              <a:rPr dirty="0"/>
              <a:t>• Use a parent abstract class (NumericalSolver) and two subclasses:</a:t>
            </a:r>
          </a:p>
          <a:p>
            <a:r>
              <a:rPr dirty="0"/>
              <a:t>   – </a:t>
            </a:r>
            <a:r>
              <a:rPr dirty="0" err="1"/>
              <a:t>DifferentialSolver</a:t>
            </a:r>
            <a:r>
              <a:rPr dirty="0"/>
              <a:t> for differential equations</a:t>
            </a:r>
          </a:p>
          <a:p>
            <a:r>
              <a:rPr dirty="0"/>
              <a:t>   – </a:t>
            </a:r>
            <a:r>
              <a:rPr dirty="0" err="1"/>
              <a:t>IntegralSolver</a:t>
            </a:r>
            <a:r>
              <a:rPr dirty="0"/>
              <a:t> for integration problems</a:t>
            </a:r>
          </a:p>
          <a:p>
            <a:r>
              <a:rPr dirty="0"/>
              <a:t>• Execute all methods and plots from a Live Script (</a:t>
            </a:r>
            <a:r>
              <a:rPr dirty="0" err="1"/>
              <a:t>main_script.mlx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Folder and File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Project Folder:</a:t>
            </a:r>
          </a:p>
          <a:p>
            <a:endParaRPr/>
          </a:p>
          <a:p>
            <a:r>
              <a:t>📁 NumericalMethodsProject</a:t>
            </a:r>
          </a:p>
          <a:p>
            <a:r>
              <a:t> ┣ 📄 NumericalSolver.m (Abstract Parent Class)</a:t>
            </a:r>
          </a:p>
          <a:p>
            <a:r>
              <a:t> ┣ 📄 DifferentialSolver.m (Subclass for ODEs)</a:t>
            </a:r>
          </a:p>
          <a:p>
            <a:r>
              <a:t> ┣ 📄 IntegralSolver.m (Subclass for Integration)</a:t>
            </a:r>
          </a:p>
          <a:p>
            <a:r>
              <a:t> ┗ 📄 main_script.mlx (Live Script that runs everything)</a:t>
            </a:r>
          </a:p>
          <a:p>
            <a:endParaRPr/>
          </a:p>
          <a:p>
            <a:r>
              <a:t>All files must be in the same directory or added to MATLAB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Parent Class: NumericalSolver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• Abstract class providing the base structure for all solvers.</a:t>
            </a:r>
          </a:p>
          <a:p>
            <a:r>
              <a:rPr dirty="0"/>
              <a:t>• Implements encapsulation (private computationTime) and abstraction (abstract methods</a:t>
            </a:r>
            <a:r>
              <a:rPr dirty="0" smtClean="0"/>
              <a:t>).</a:t>
            </a:r>
            <a:endParaRPr lang="en-US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NUMERICAL SOLVER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Autofit/>
          </a:bodyPr>
          <a:lstStyle/>
          <a:p>
            <a:r>
              <a:rPr lang="en-US" sz="1100" dirty="0"/>
              <a:t>% ABSTRACT PARENT CLASS</a:t>
            </a:r>
          </a:p>
          <a:p>
            <a:r>
              <a:rPr lang="en-US" sz="1100" dirty="0"/>
              <a:t>classdef (Abstract) NumericalSolver</a:t>
            </a:r>
          </a:p>
          <a:p>
            <a:r>
              <a:rPr lang="en-US" sz="1100" dirty="0"/>
              <a:t>    properties (Access = protected)</a:t>
            </a:r>
          </a:p>
          <a:p>
            <a:r>
              <a:rPr lang="en-US" sz="1100" dirty="0"/>
              <a:t>        options</a:t>
            </a:r>
          </a:p>
          <a:p>
            <a:r>
              <a:rPr lang="en-US" sz="1100" dirty="0"/>
              <a:t>    end</a:t>
            </a:r>
          </a:p>
          <a:p>
            <a:r>
              <a:rPr lang="en-US" sz="1100" dirty="0"/>
              <a:t> </a:t>
            </a:r>
          </a:p>
          <a:p>
            <a:r>
              <a:rPr lang="en-US" sz="1100" dirty="0"/>
              <a:t>    properties (Access = private)</a:t>
            </a:r>
          </a:p>
          <a:p>
            <a:r>
              <a:rPr lang="en-US" sz="1100" dirty="0"/>
              <a:t>        computationTime</a:t>
            </a:r>
          </a:p>
          <a:p>
            <a:r>
              <a:rPr lang="en-US" sz="1100" dirty="0"/>
              <a:t>    end</a:t>
            </a:r>
          </a:p>
          <a:p>
            <a:r>
              <a:rPr lang="en-US" sz="1100" dirty="0"/>
              <a:t> </a:t>
            </a:r>
          </a:p>
          <a:p>
            <a:r>
              <a:rPr lang="en-US" sz="1100" dirty="0"/>
              <a:t>    methods (Abstract)</a:t>
            </a:r>
          </a:p>
          <a:p>
            <a:r>
              <a:rPr lang="en-US" sz="1100" dirty="0"/>
              <a:t>        result = solve(</a:t>
            </a:r>
            <a:r>
              <a:rPr lang="en-US" sz="1100" dirty="0" err="1"/>
              <a:t>obj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plotResult(</a:t>
            </a:r>
            <a:r>
              <a:rPr lang="en-US" sz="1100" dirty="0" err="1"/>
              <a:t>obj</a:t>
            </a:r>
            <a:r>
              <a:rPr lang="en-US" sz="1100" dirty="0"/>
              <a:t>)</a:t>
            </a:r>
          </a:p>
          <a:p>
            <a:r>
              <a:rPr lang="en-US" sz="1100" dirty="0"/>
              <a:t>    end</a:t>
            </a:r>
          </a:p>
          <a:p>
            <a:r>
              <a:rPr lang="en-US" sz="1100" dirty="0"/>
              <a:t> </a:t>
            </a:r>
          </a:p>
          <a:p>
            <a:r>
              <a:rPr lang="en-US" sz="1100" dirty="0"/>
              <a:t>    methods</a:t>
            </a:r>
          </a:p>
          <a:p>
            <a:r>
              <a:rPr lang="en-US" sz="1100" dirty="0"/>
              <a:t>        function </a:t>
            </a:r>
            <a:r>
              <a:rPr lang="en-US" sz="1100" dirty="0" err="1"/>
              <a:t>setComputationTime</a:t>
            </a:r>
            <a:r>
              <a:rPr lang="en-US" sz="1100" dirty="0"/>
              <a:t>(</a:t>
            </a:r>
            <a:r>
              <a:rPr lang="en-US" sz="1100" dirty="0" err="1"/>
              <a:t>obj</a:t>
            </a:r>
            <a:r>
              <a:rPr lang="en-US" sz="1100" dirty="0"/>
              <a:t>, t)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obj.computationTime</a:t>
            </a:r>
            <a:r>
              <a:rPr lang="en-US" sz="1100" dirty="0"/>
              <a:t> = t;</a:t>
            </a:r>
          </a:p>
          <a:p>
            <a:r>
              <a:rPr lang="en-US" sz="1100" dirty="0"/>
              <a:t>        end</a:t>
            </a:r>
          </a:p>
          <a:p>
            <a:r>
              <a:rPr lang="en-US" sz="1100" dirty="0"/>
              <a:t> </a:t>
            </a:r>
          </a:p>
          <a:p>
            <a:r>
              <a:rPr lang="en-US" sz="1100" dirty="0"/>
              <a:t>        function t = </a:t>
            </a:r>
            <a:r>
              <a:rPr lang="en-US" sz="1100" dirty="0" err="1"/>
              <a:t>getComputationTime</a:t>
            </a:r>
            <a:r>
              <a:rPr lang="en-US" sz="1100" dirty="0"/>
              <a:t>(</a:t>
            </a:r>
            <a:r>
              <a:rPr lang="en-US" sz="1100" dirty="0" err="1"/>
              <a:t>obj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    t = </a:t>
            </a:r>
            <a:r>
              <a:rPr lang="en-US" sz="1100" dirty="0" err="1"/>
              <a:t>obj.computationTime</a:t>
            </a:r>
            <a:r>
              <a:rPr lang="en-US" sz="1100" dirty="0"/>
              <a:t>;</a:t>
            </a:r>
          </a:p>
          <a:p>
            <a:r>
              <a:rPr lang="en-US" sz="1100" dirty="0"/>
              <a:t>        end</a:t>
            </a:r>
          </a:p>
          <a:p>
            <a:r>
              <a:rPr lang="en-US" sz="1100" dirty="0"/>
              <a:t>    end</a:t>
            </a:r>
          </a:p>
          <a:p>
            <a:r>
              <a:rPr lang="en-US" sz="1100" dirty="0"/>
              <a:t>end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96839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Subclass 1: DifferentialSolver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• Inherits from NumericalSolver.</a:t>
            </a:r>
          </a:p>
          <a:p>
            <a:r>
              <a:rPr sz="2000" dirty="0"/>
              <a:t>• Implements Euler and </a:t>
            </a:r>
            <a:r>
              <a:rPr sz="2000" dirty="0" err="1"/>
              <a:t>Runge-Kutta</a:t>
            </a:r>
            <a:r>
              <a:rPr sz="2000" dirty="0"/>
              <a:t> methods for solving ODEs.</a:t>
            </a:r>
          </a:p>
          <a:p>
            <a:r>
              <a:rPr sz="2000" dirty="0"/>
              <a:t>• Demonstrates polymorphism by redefining abstract methods.</a:t>
            </a:r>
          </a:p>
          <a:p>
            <a:endParaRPr sz="2000" dirty="0"/>
          </a:p>
          <a:p>
            <a:r>
              <a:rPr sz="2000" dirty="0"/>
              <a:t>Key code:</a:t>
            </a:r>
          </a:p>
          <a:p>
            <a:r>
              <a:rPr sz="2000" dirty="0"/>
              <a:t>switch lower(</a:t>
            </a:r>
            <a:r>
              <a:rPr sz="2000" dirty="0" err="1"/>
              <a:t>obj.method</a:t>
            </a:r>
            <a:r>
              <a:rPr sz="2000" dirty="0"/>
              <a:t>)</a:t>
            </a:r>
          </a:p>
          <a:p>
            <a:r>
              <a:rPr sz="2000" dirty="0"/>
              <a:t>  case '</a:t>
            </a:r>
            <a:r>
              <a:rPr sz="2000" dirty="0" err="1"/>
              <a:t>euler</a:t>
            </a:r>
            <a:r>
              <a:rPr sz="2000" dirty="0"/>
              <a:t>'</a:t>
            </a:r>
          </a:p>
          <a:p>
            <a:r>
              <a:rPr sz="2000" dirty="0"/>
              <a:t>      y(i+1) = y(</a:t>
            </a:r>
            <a:r>
              <a:rPr sz="2000" dirty="0" err="1"/>
              <a:t>i</a:t>
            </a:r>
            <a:r>
              <a:rPr sz="2000" dirty="0"/>
              <a:t>) + h * f(t(</a:t>
            </a:r>
            <a:r>
              <a:rPr sz="2000" dirty="0" err="1"/>
              <a:t>i</a:t>
            </a:r>
            <a:r>
              <a:rPr sz="2000" dirty="0"/>
              <a:t>), y(</a:t>
            </a:r>
            <a:r>
              <a:rPr sz="2000" dirty="0" err="1"/>
              <a:t>i</a:t>
            </a:r>
            <a:r>
              <a:rPr sz="2000" dirty="0"/>
              <a:t>));</a:t>
            </a:r>
          </a:p>
          <a:p>
            <a:r>
              <a:rPr sz="2000" dirty="0"/>
              <a:t>  case '</a:t>
            </a:r>
            <a:r>
              <a:rPr sz="2000" dirty="0" err="1"/>
              <a:t>runge-kutta</a:t>
            </a:r>
            <a:r>
              <a:rPr sz="2000" dirty="0"/>
              <a:t>'</a:t>
            </a:r>
          </a:p>
          <a:p>
            <a:r>
              <a:rPr sz="2000" dirty="0"/>
              <a:t>      ... (RK4 implementation</a:t>
            </a:r>
            <a:r>
              <a:rPr sz="2000" dirty="0" smtClean="0"/>
              <a:t>)</a:t>
            </a:r>
            <a:endParaRPr lang="en-US" sz="2000" dirty="0" smtClean="0"/>
          </a:p>
          <a:p>
            <a:r>
              <a:rPr lang="en-US" sz="2000" dirty="0" smtClean="0">
                <a:solidFill>
                  <a:schemeClr val="accent6"/>
                </a:solidFill>
              </a:rPr>
              <a:t>The codes are shown below</a:t>
            </a:r>
            <a:endParaRPr sz="2000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869325"/>
            <a:ext cx="4572000" cy="51193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6195" indent="71755">
              <a:lnSpc>
                <a:spcPts val="1400"/>
              </a:lnSpc>
              <a:spcBef>
                <a:spcPts val="700"/>
              </a:spcBef>
              <a:spcAft>
                <a:spcPts val="0"/>
              </a:spcAft>
            </a:pP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classdef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DifferentialSolver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&lt; NumericalSolver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properties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tspan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y0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h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method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methods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function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DifferentialSolver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tspan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y0, h, method)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obj.func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obj.tspan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tspan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obj.y0 = y0;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obj.h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h;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obj.method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method;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function 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result = solve(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tic;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t =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obj.tspan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(1):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obj.h:obj.tspan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(2);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n = length(t);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y = zeros(1, n);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y(1) = obj.y0;</a:t>
            </a:r>
          </a:p>
          <a:p>
            <a:pPr marL="36195" indent="71755">
              <a:lnSpc>
                <a:spcPts val="1400"/>
              </a:lnSpc>
              <a:spcAft>
                <a:spcPts val="70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1920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Subclass 2: IntegralSolver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900" dirty="0"/>
              <a:t>• Inherits from NumericalSolver.</a:t>
            </a:r>
          </a:p>
          <a:p>
            <a:r>
              <a:rPr sz="1900" dirty="0"/>
              <a:t>• Implements Trapezoidal and Simpson's methods.</a:t>
            </a:r>
          </a:p>
          <a:p>
            <a:r>
              <a:rPr sz="1900" dirty="0"/>
              <a:t>• Uses dynamic computation of integral values and time measurement.</a:t>
            </a:r>
          </a:p>
          <a:p>
            <a:endParaRPr sz="1900" dirty="0"/>
          </a:p>
          <a:p>
            <a:r>
              <a:rPr sz="1900" dirty="0"/>
              <a:t>Key code:</a:t>
            </a:r>
          </a:p>
          <a:p>
            <a:r>
              <a:rPr sz="1900" dirty="0"/>
              <a:t>switch lower(</a:t>
            </a:r>
            <a:r>
              <a:rPr sz="1900" dirty="0" err="1"/>
              <a:t>obj.method</a:t>
            </a:r>
            <a:r>
              <a:rPr sz="1900" dirty="0"/>
              <a:t>)</a:t>
            </a:r>
          </a:p>
          <a:p>
            <a:r>
              <a:rPr sz="1900" dirty="0"/>
              <a:t>  case 'trapezoidal'</a:t>
            </a:r>
          </a:p>
          <a:p>
            <a:r>
              <a:rPr sz="1900" dirty="0"/>
              <a:t>      I = h/2 * (y(1) + 2*sum(y(2:end-1)) + y(end));</a:t>
            </a:r>
          </a:p>
          <a:p>
            <a:r>
              <a:rPr sz="1900" dirty="0"/>
              <a:t>  case '</a:t>
            </a:r>
            <a:r>
              <a:rPr sz="1900" dirty="0" err="1"/>
              <a:t>simpson</a:t>
            </a:r>
            <a:r>
              <a:rPr sz="1900" dirty="0"/>
              <a:t>'</a:t>
            </a:r>
          </a:p>
          <a:p>
            <a:r>
              <a:rPr sz="1900" dirty="0"/>
              <a:t>      I = h/3 * (y(1) + 4*sum(y(2:2:end-1)) + y(end</a:t>
            </a:r>
            <a:r>
              <a:rPr dirty="0" smtClean="0"/>
              <a:t>));</a:t>
            </a:r>
            <a:endParaRPr lang="en-US" dirty="0" smtClean="0"/>
          </a:p>
          <a:p>
            <a:r>
              <a:rPr lang="en-US" dirty="0" smtClean="0">
                <a:solidFill>
                  <a:schemeClr val="accent6"/>
                </a:solidFill>
              </a:rPr>
              <a:t>Integral solver codes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86000" y="-656734"/>
            <a:ext cx="4572000" cy="67351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6195" indent="71755">
              <a:lnSpc>
                <a:spcPts val="1400"/>
              </a:lnSpc>
              <a:spcBef>
                <a:spcPts val="700"/>
              </a:spcBef>
              <a:spcAft>
                <a:spcPts val="0"/>
              </a:spcAft>
            </a:pP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eclassdef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IntegralSolver</a:t>
            </a:r>
            <a:r>
              <a:rPr lang="en-US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&lt; NumericalSolver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properties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a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b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n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method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S" sz="1100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100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methods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sz="1100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function 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IntegralSolver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a, b, n, method)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obj.func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obj.a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a;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obj.b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b;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obj.n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n;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obj.method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method;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sz="1100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100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sz="1100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function 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result = solve(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tic;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h = (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obj.b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- 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obj.a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)/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obj.n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x = 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obj.a:h:obj.b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y = 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obj.func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(x);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sz="1100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switch 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lower(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obj.method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    </a:t>
            </a:r>
            <a:r>
              <a:rPr lang="en-US" sz="1100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case </a:t>
            </a:r>
            <a:r>
              <a:rPr lang="en-US" sz="1100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'trapezoidal'</a:t>
            </a:r>
            <a:endParaRPr lang="en-US" sz="1100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        I = h/2 * (y(1) + 2*sum(y(2:end-1)) + y(end));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    </a:t>
            </a:r>
            <a:r>
              <a:rPr lang="en-US" sz="1100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case </a:t>
            </a:r>
            <a:r>
              <a:rPr lang="en-US" sz="1100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</a:t>
            </a:r>
            <a:r>
              <a:rPr lang="en-US" sz="1100" dirty="0" err="1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simpson</a:t>
            </a:r>
            <a:r>
              <a:rPr lang="en-US" sz="1100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</a:t>
            </a:r>
            <a:endParaRPr lang="en-US" sz="1100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        </a:t>
            </a:r>
            <a:r>
              <a:rPr lang="en-US" sz="1100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if 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mod(obj.n,2)~=0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            error(</a:t>
            </a:r>
            <a:r>
              <a:rPr lang="en-US" sz="1100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'Simpson method requires even n.'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        </a:t>
            </a:r>
            <a:r>
              <a:rPr lang="en-US" sz="1100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100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70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        I = h/3 * (y(1) + 4*sum(y(2:2:end-1)) + 2*sum(y(3:2:end-2)) + y(end));</a:t>
            </a:r>
          </a:p>
        </p:txBody>
      </p:sp>
    </p:spTree>
    <p:extLst>
      <p:ext uri="{BB962C8B-B14F-4D97-AF65-F5344CB8AC3E}">
        <p14:creationId xmlns:p14="http://schemas.microsoft.com/office/powerpoint/2010/main" val="2767838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1138630"/>
            <a:ext cx="4572000" cy="458074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6195" indent="71755">
              <a:lnSpc>
                <a:spcPts val="1400"/>
              </a:lnSpc>
              <a:spcBef>
                <a:spcPts val="700"/>
              </a:spcBef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otherwise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        error(</a:t>
            </a:r>
            <a:r>
              <a:rPr lang="en-US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'Unknown method.'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obj.setComputationTime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(toc);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result.I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I;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result.x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x;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result.y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y;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function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plotResult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result =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obj.solve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figure;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plot(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result.x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result.y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</a:t>
            </a:r>
            <a:r>
              <a:rPr lang="en-US" dirty="0" err="1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LineWidth</a:t>
            </a:r>
            <a:r>
              <a:rPr lang="en-US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1.5);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title([</a:t>
            </a:r>
            <a:r>
              <a:rPr lang="en-US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'Integral Solver using '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obj.method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]);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xlabel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'x'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ylabel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'f(x)'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grid </a:t>
            </a:r>
            <a:r>
              <a:rPr lang="en-US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on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700"/>
              </a:spcAft>
            </a:pP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712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Script: main_script.mlx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• The Live Script acts as the controller that runs both subclasses.</a:t>
            </a:r>
          </a:p>
          <a:p>
            <a:r>
              <a:rPr sz="1800" dirty="0"/>
              <a:t>• It creates objects from </a:t>
            </a:r>
            <a:r>
              <a:rPr sz="1800" dirty="0" err="1"/>
              <a:t>DifferentialSolver</a:t>
            </a:r>
            <a:r>
              <a:rPr sz="1800" dirty="0"/>
              <a:t> and </a:t>
            </a:r>
            <a:r>
              <a:rPr sz="1800" dirty="0" err="1"/>
              <a:t>IntegralSolver</a:t>
            </a:r>
            <a:r>
              <a:rPr sz="1800" dirty="0"/>
              <a:t>.</a:t>
            </a:r>
          </a:p>
          <a:p>
            <a:r>
              <a:rPr sz="1800" dirty="0"/>
              <a:t>• Executes and compares computation times with plots.</a:t>
            </a:r>
          </a:p>
          <a:p>
            <a:endParaRPr sz="1800" dirty="0"/>
          </a:p>
          <a:p>
            <a:r>
              <a:rPr sz="1800" dirty="0"/>
              <a:t>Example:</a:t>
            </a:r>
          </a:p>
          <a:p>
            <a:r>
              <a:rPr sz="1800" dirty="0"/>
              <a:t>solver1 = </a:t>
            </a:r>
            <a:r>
              <a:rPr sz="1800" dirty="0" err="1"/>
              <a:t>DifferentialSolver</a:t>
            </a:r>
            <a:r>
              <a:rPr sz="1800" dirty="0"/>
              <a:t>(f, [0 5], 1, 0.1, 'Euler');</a:t>
            </a:r>
          </a:p>
          <a:p>
            <a:r>
              <a:rPr sz="1800" dirty="0"/>
              <a:t>solver1.plotResult();</a:t>
            </a:r>
          </a:p>
          <a:p>
            <a:r>
              <a:rPr sz="1800" dirty="0"/>
              <a:t>intSolver2 = </a:t>
            </a:r>
            <a:r>
              <a:rPr sz="1800" dirty="0" err="1"/>
              <a:t>IntegralSolver</a:t>
            </a:r>
            <a:r>
              <a:rPr sz="1800" dirty="0"/>
              <a:t>(f2, 0, pi, 100, 'Simpson');</a:t>
            </a:r>
          </a:p>
          <a:p>
            <a:r>
              <a:rPr sz="1800" dirty="0"/>
              <a:t>intSolver2.plotResult</a:t>
            </a:r>
            <a:r>
              <a:rPr sz="1800" dirty="0" smtClean="0"/>
              <a:t>();</a:t>
            </a:r>
            <a:endParaRPr lang="en-US" sz="1800" dirty="0" smtClean="0"/>
          </a:p>
          <a:p>
            <a:endParaRPr lang="en-US" sz="1800" dirty="0" smtClean="0"/>
          </a:p>
          <a:p>
            <a:r>
              <a:rPr lang="en-US" sz="1800" dirty="0" smtClean="0">
                <a:solidFill>
                  <a:schemeClr val="accent6"/>
                </a:solidFill>
              </a:rPr>
              <a:t>Main script codes</a:t>
            </a:r>
            <a:endParaRPr sz="1800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0"/>
            <a:ext cx="4406900" cy="5001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8013"/>
                </a:solidFill>
                <a:latin typeface="Menlo"/>
              </a:rPr>
              <a:t>%% Differential Equation Example</a:t>
            </a:r>
            <a:endParaRPr lang="en-US" sz="1100" dirty="0">
              <a:solidFill>
                <a:srgbClr val="212121"/>
              </a:solidFill>
              <a:latin typeface="Menlo"/>
            </a:endParaRP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>f = @(t, y) -2*y + 2 - </a:t>
            </a:r>
            <a:r>
              <a:rPr lang="en-US" sz="1100" dirty="0" err="1">
                <a:solidFill>
                  <a:srgbClr val="212121"/>
                </a:solidFill>
                <a:latin typeface="Menlo"/>
              </a:rPr>
              <a:t>exp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(-4*t);</a:t>
            </a: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>solver1 = </a:t>
            </a:r>
            <a:r>
              <a:rPr lang="en-US" sz="1100" dirty="0" err="1">
                <a:solidFill>
                  <a:srgbClr val="212121"/>
                </a:solidFill>
                <a:latin typeface="Menlo"/>
              </a:rPr>
              <a:t>DifferentialSolver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(f, [0 5], 1, 0.1, </a:t>
            </a:r>
            <a:r>
              <a:rPr lang="en-US" sz="1100" dirty="0">
                <a:solidFill>
                  <a:srgbClr val="A709F5"/>
                </a:solidFill>
                <a:latin typeface="Menlo"/>
              </a:rPr>
              <a:t>'Euler'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);</a:t>
            </a: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>solver1.plotResult();</a:t>
            </a:r>
          </a:p>
          <a:p>
            <a:r>
              <a:rPr lang="en-US" sz="1100" dirty="0" err="1">
                <a:solidFill>
                  <a:srgbClr val="212121"/>
                </a:solidFill>
                <a:latin typeface="Menlo"/>
              </a:rPr>
              <a:t>fprintf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(</a:t>
            </a:r>
            <a:r>
              <a:rPr lang="en-US" sz="1100" dirty="0">
                <a:solidFill>
                  <a:srgbClr val="A709F5"/>
                </a:solidFill>
                <a:latin typeface="Menlo"/>
              </a:rPr>
              <a:t>'Euler Computation Time: %.6f seconds\n'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, solver1.getComputationTime());</a:t>
            </a: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/>
            </a:r>
            <a:br>
              <a:rPr lang="en-US" sz="1100" dirty="0">
                <a:solidFill>
                  <a:srgbClr val="212121"/>
                </a:solidFill>
                <a:latin typeface="Menlo"/>
              </a:rPr>
            </a:br>
            <a:r>
              <a:rPr lang="en-US" sz="1100" dirty="0">
                <a:solidFill>
                  <a:srgbClr val="212121"/>
                </a:solidFill>
                <a:latin typeface="Menlo"/>
              </a:rPr>
              <a:t/>
            </a:r>
            <a:br>
              <a:rPr lang="en-US" sz="1100" dirty="0">
                <a:solidFill>
                  <a:srgbClr val="212121"/>
                </a:solidFill>
                <a:latin typeface="Menlo"/>
              </a:rPr>
            </a:br>
            <a:endParaRPr lang="en-US" sz="1100" dirty="0">
              <a:solidFill>
                <a:srgbClr val="212121"/>
              </a:solidFill>
              <a:latin typeface="Menlo"/>
            </a:endParaRP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>solver2 = </a:t>
            </a:r>
            <a:r>
              <a:rPr lang="en-US" sz="1100" dirty="0" err="1">
                <a:solidFill>
                  <a:srgbClr val="212121"/>
                </a:solidFill>
                <a:latin typeface="Menlo"/>
              </a:rPr>
              <a:t>DifferentialSolver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(f, [0 5], 1, 0.1, </a:t>
            </a:r>
            <a:r>
              <a:rPr lang="en-US" sz="1100" dirty="0">
                <a:solidFill>
                  <a:srgbClr val="A709F5"/>
                </a:solidFill>
                <a:latin typeface="Menlo"/>
              </a:rPr>
              <a:t>'</a:t>
            </a:r>
            <a:r>
              <a:rPr lang="en-US" sz="1100" dirty="0" err="1">
                <a:solidFill>
                  <a:srgbClr val="A709F5"/>
                </a:solidFill>
                <a:latin typeface="Menlo"/>
              </a:rPr>
              <a:t>Runge-Kutta</a:t>
            </a:r>
            <a:r>
              <a:rPr lang="en-US" sz="1100" dirty="0">
                <a:solidFill>
                  <a:srgbClr val="A709F5"/>
                </a:solidFill>
                <a:latin typeface="Menlo"/>
              </a:rPr>
              <a:t>'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);</a:t>
            </a: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>solver2.plotResult();</a:t>
            </a:r>
          </a:p>
          <a:p>
            <a:r>
              <a:rPr lang="en-US" sz="1100" dirty="0" err="1">
                <a:solidFill>
                  <a:srgbClr val="212121"/>
                </a:solidFill>
                <a:latin typeface="Menlo"/>
              </a:rPr>
              <a:t>fprintf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(</a:t>
            </a:r>
            <a:r>
              <a:rPr lang="en-US" sz="1100" dirty="0">
                <a:solidFill>
                  <a:srgbClr val="A709F5"/>
                </a:solidFill>
                <a:latin typeface="Menlo"/>
              </a:rPr>
              <a:t>'</a:t>
            </a:r>
            <a:r>
              <a:rPr lang="en-US" sz="1100" dirty="0" err="1">
                <a:solidFill>
                  <a:srgbClr val="A709F5"/>
                </a:solidFill>
                <a:latin typeface="Menlo"/>
              </a:rPr>
              <a:t>Runge-Kutta</a:t>
            </a:r>
            <a:r>
              <a:rPr lang="en-US" sz="1100" dirty="0">
                <a:solidFill>
                  <a:srgbClr val="A709F5"/>
                </a:solidFill>
                <a:latin typeface="Menlo"/>
              </a:rPr>
              <a:t> Computation Time: %.6f seconds\n'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, solver2.getComputationTime());</a:t>
            </a: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/>
            </a:r>
            <a:br>
              <a:rPr lang="en-US" sz="1100" dirty="0">
                <a:solidFill>
                  <a:srgbClr val="212121"/>
                </a:solidFill>
                <a:latin typeface="Menlo"/>
              </a:rPr>
            </a:br>
            <a:r>
              <a:rPr lang="en-US" sz="1100" dirty="0">
                <a:solidFill>
                  <a:srgbClr val="212121"/>
                </a:solidFill>
                <a:latin typeface="Menlo"/>
              </a:rPr>
              <a:t/>
            </a:r>
            <a:br>
              <a:rPr lang="en-US" sz="1100" dirty="0">
                <a:solidFill>
                  <a:srgbClr val="212121"/>
                </a:solidFill>
                <a:latin typeface="Menlo"/>
              </a:rPr>
            </a:br>
            <a:endParaRPr lang="en-US" sz="1100" dirty="0">
              <a:solidFill>
                <a:srgbClr val="212121"/>
              </a:solidFill>
              <a:latin typeface="Menlo"/>
            </a:endParaRPr>
          </a:p>
          <a:p>
            <a:r>
              <a:rPr lang="en-US" sz="1100" dirty="0">
                <a:solidFill>
                  <a:srgbClr val="008013"/>
                </a:solidFill>
                <a:latin typeface="Menlo"/>
              </a:rPr>
              <a:t>%% Integral Example</a:t>
            </a:r>
            <a:endParaRPr lang="en-US" sz="1100" dirty="0">
              <a:solidFill>
                <a:srgbClr val="212121"/>
              </a:solidFill>
              <a:latin typeface="Menlo"/>
            </a:endParaRP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>f2 = @(x) sin(x).^2;</a:t>
            </a: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>intSolver1 = </a:t>
            </a:r>
            <a:r>
              <a:rPr lang="en-US" sz="1100" dirty="0" err="1">
                <a:solidFill>
                  <a:srgbClr val="212121"/>
                </a:solidFill>
                <a:latin typeface="Menlo"/>
              </a:rPr>
              <a:t>IntegralSolver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(f2, 0, pi, 100, </a:t>
            </a:r>
            <a:r>
              <a:rPr lang="en-US" sz="1100" dirty="0">
                <a:solidFill>
                  <a:srgbClr val="A709F5"/>
                </a:solidFill>
                <a:latin typeface="Menlo"/>
              </a:rPr>
              <a:t>'Trapezoidal'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);</a:t>
            </a: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>intSolver1.plotResult();</a:t>
            </a:r>
          </a:p>
          <a:p>
            <a:r>
              <a:rPr lang="en-US" sz="1100" dirty="0" err="1">
                <a:solidFill>
                  <a:srgbClr val="212121"/>
                </a:solidFill>
                <a:latin typeface="Menlo"/>
              </a:rPr>
              <a:t>fprintf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(</a:t>
            </a:r>
            <a:r>
              <a:rPr lang="en-US" sz="1100" dirty="0">
                <a:solidFill>
                  <a:srgbClr val="A709F5"/>
                </a:solidFill>
                <a:latin typeface="Menlo"/>
              </a:rPr>
              <a:t>'Trapezoidal Result: %.6f, Time: %.6f\n'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, intSolver1.solve().I, intSolver1.getComputationTime());</a:t>
            </a: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/>
            </a:r>
            <a:br>
              <a:rPr lang="en-US" sz="1100" dirty="0">
                <a:solidFill>
                  <a:srgbClr val="212121"/>
                </a:solidFill>
                <a:latin typeface="Menlo"/>
              </a:rPr>
            </a:br>
            <a:r>
              <a:rPr lang="en-US" sz="1100" dirty="0">
                <a:solidFill>
                  <a:srgbClr val="212121"/>
                </a:solidFill>
                <a:latin typeface="Menlo"/>
              </a:rPr>
              <a:t/>
            </a:r>
            <a:br>
              <a:rPr lang="en-US" sz="1100" dirty="0">
                <a:solidFill>
                  <a:srgbClr val="212121"/>
                </a:solidFill>
                <a:latin typeface="Menlo"/>
              </a:rPr>
            </a:br>
            <a:endParaRPr lang="en-US" sz="1100" dirty="0">
              <a:solidFill>
                <a:srgbClr val="212121"/>
              </a:solidFill>
              <a:latin typeface="Menlo"/>
            </a:endParaRP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>intSolver2 = </a:t>
            </a:r>
            <a:r>
              <a:rPr lang="en-US" sz="1100" dirty="0" err="1">
                <a:solidFill>
                  <a:srgbClr val="212121"/>
                </a:solidFill>
                <a:latin typeface="Menlo"/>
              </a:rPr>
              <a:t>IntegralSolver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(f2, 0, pi, 100, </a:t>
            </a:r>
            <a:r>
              <a:rPr lang="en-US" sz="1100" dirty="0">
                <a:solidFill>
                  <a:srgbClr val="A709F5"/>
                </a:solidFill>
                <a:latin typeface="Menlo"/>
              </a:rPr>
              <a:t>'Simpson'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);</a:t>
            </a: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>intSolver2.plotResult();</a:t>
            </a:r>
          </a:p>
          <a:p>
            <a:r>
              <a:rPr lang="en-US" sz="1100" dirty="0" err="1">
                <a:solidFill>
                  <a:srgbClr val="212121"/>
                </a:solidFill>
                <a:latin typeface="Menlo"/>
              </a:rPr>
              <a:t>fprintf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(</a:t>
            </a:r>
            <a:r>
              <a:rPr lang="en-US" sz="1100" dirty="0">
                <a:solidFill>
                  <a:srgbClr val="A709F5"/>
                </a:solidFill>
                <a:latin typeface="Menlo"/>
              </a:rPr>
              <a:t>'Simpson Result: %.6f, Time: %.6f\n'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, intSolver2.solve().I, intSolver2.getComputationTime());</a:t>
            </a:r>
            <a:endParaRPr lang="en-US" sz="1100" b="0" i="0" dirty="0">
              <a:solidFill>
                <a:srgbClr val="212121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085051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Plots and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• Differential equation solutions (Euler vs </a:t>
            </a:r>
            <a:r>
              <a:rPr sz="2400" dirty="0" err="1"/>
              <a:t>Runge-Kutta</a:t>
            </a:r>
            <a:r>
              <a:rPr sz="2400" dirty="0"/>
              <a:t>).</a:t>
            </a:r>
          </a:p>
          <a:p>
            <a:r>
              <a:rPr sz="2400" dirty="0"/>
              <a:t>• Integration results (Trapezoidal vs Simpson).</a:t>
            </a:r>
          </a:p>
          <a:p>
            <a:r>
              <a:rPr sz="2400" dirty="0"/>
              <a:t>• Bar and line plots comparing computation times.</a:t>
            </a:r>
          </a:p>
          <a:p>
            <a:endParaRPr sz="2400" dirty="0"/>
          </a:p>
          <a:p>
            <a:r>
              <a:rPr sz="2400" dirty="0"/>
              <a:t>Graphs generated:</a:t>
            </a:r>
          </a:p>
          <a:p>
            <a:r>
              <a:rPr sz="2400" dirty="0"/>
              <a:t>– y(t) vs t (for ODEs)</a:t>
            </a:r>
          </a:p>
          <a:p>
            <a:r>
              <a:rPr sz="2400" dirty="0"/>
              <a:t>– f(x) vs x (for integrals)</a:t>
            </a:r>
          </a:p>
          <a:p>
            <a:r>
              <a:rPr sz="2400" dirty="0"/>
              <a:t>– Bar graph comparing method speeds</a:t>
            </a:r>
            <a:r>
              <a:rPr sz="2400" dirty="0" smtClean="0"/>
              <a:t>.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>
                <a:solidFill>
                  <a:schemeClr val="accent6"/>
                </a:solidFill>
              </a:rPr>
              <a:t>Graphs are shown in the following slides</a:t>
            </a:r>
            <a:endParaRPr sz="2400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s://www.mathworks.com/file0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00" y="838200"/>
            <a:ext cx="5816600" cy="4838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968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s://www.mathworks.com/file0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0" y="863600"/>
            <a:ext cx="5486400" cy="40655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6867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s://www.mathworks.com/file0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" y="800100"/>
            <a:ext cx="7874000" cy="5334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0675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s://www.mathworks.com/file0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600" y="635000"/>
            <a:ext cx="6134100" cy="5308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4641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• The use of MATLAB OOP allows modular and scalable numerical method design.</a:t>
            </a:r>
          </a:p>
          <a:p>
            <a:r>
              <a:t>• Abstract classes improve reusability and maintainability.</a:t>
            </a:r>
          </a:p>
          <a:p>
            <a:r>
              <a:t>• Encapsulation and polymorphism enhance security and flexibility.</a:t>
            </a:r>
          </a:p>
          <a:p>
            <a:r>
              <a:t>• The Live Script demonstrates the integration of back-end classes in a user-friendly interface.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741</Words>
  <Application>Microsoft Office PowerPoint</Application>
  <PresentationFormat>On-screen Show (4:3)</PresentationFormat>
  <Paragraphs>241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Yu Gothic Medium</vt:lpstr>
      <vt:lpstr>Arial</vt:lpstr>
      <vt:lpstr>Calibri</vt:lpstr>
      <vt:lpstr>Consolas</vt:lpstr>
      <vt:lpstr>Menlo</vt:lpstr>
      <vt:lpstr>Times New Roman</vt:lpstr>
      <vt:lpstr>Office Theme</vt:lpstr>
      <vt:lpstr>MATLAB OOP Numerical Methods Application</vt:lpstr>
      <vt:lpstr>PRESENTED BY GROUP ELEVEN MEMBERS. </vt:lpstr>
      <vt:lpstr>Objective of the Project</vt:lpstr>
      <vt:lpstr>Folder and File Structure</vt:lpstr>
      <vt:lpstr>Parent Class: NumericalSolver</vt:lpstr>
      <vt:lpstr>NUMERICAL SOLVER</vt:lpstr>
      <vt:lpstr>Subclass 1: DifferentialSolver</vt:lpstr>
      <vt:lpstr>PowerPoint Presentation</vt:lpstr>
      <vt:lpstr>Subclass 2: IntegralSolver</vt:lpstr>
      <vt:lpstr>PowerPoint Presentation</vt:lpstr>
      <vt:lpstr>PowerPoint Presentation</vt:lpstr>
      <vt:lpstr>Live Script: main_script.mlx</vt:lpstr>
      <vt:lpstr>PowerPoint Presentation</vt:lpstr>
      <vt:lpstr>Example Plots and Outputs</vt:lpstr>
      <vt:lpstr>PowerPoint Presentation</vt:lpstr>
      <vt:lpstr>PowerPoint Presentation</vt:lpstr>
      <vt:lpstr>PowerPoint Presentation</vt:lpstr>
      <vt:lpstr>PowerPoint Presentation</vt:lpstr>
      <vt:lpstr>Summary and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MATLAB OOP Numerical Methods Application</dc:title>
  <dc:subject/>
  <dc:creator>SYKAT COMPUTERS</dc:creator>
  <cp:keywords/>
  <dc:description>generated using python-pptx</dc:description>
  <cp:lastModifiedBy>HASS ENG.COMPAMY</cp:lastModifiedBy>
  <cp:revision>8</cp:revision>
  <dcterms:created xsi:type="dcterms:W3CDTF">2013-01-27T09:14:16Z</dcterms:created>
  <dcterms:modified xsi:type="dcterms:W3CDTF">2025-10-28T07:45:47Z</dcterms:modified>
  <cp:category/>
</cp:coreProperties>
</file>