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 id="2147483691" r:id="rId2"/>
  </p:sldMasterIdLst>
  <p:sldIdLst>
    <p:sldId id="257" r:id="rId3"/>
    <p:sldId id="25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6" d="100"/>
          <a:sy n="66" d="100"/>
        </p:scale>
        <p:origin x="87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2DE54F1-6029-4831-AA1D-EAC7B07B6135}" type="datetimeFigureOut">
              <a:rPr lang="en-US" smtClean="0"/>
              <a:t>11/10/2025</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34DDC70D-566C-435D-85B3-E82466EB6193}" type="slidenum">
              <a:rPr lang="en-US" smtClean="0"/>
              <a:t>‹#›</a:t>
            </a:fld>
            <a:endParaRPr lang="en-US"/>
          </a:p>
        </p:txBody>
      </p:sp>
    </p:spTree>
    <p:extLst>
      <p:ext uri="{BB962C8B-B14F-4D97-AF65-F5344CB8AC3E}">
        <p14:creationId xmlns:p14="http://schemas.microsoft.com/office/powerpoint/2010/main" val="134759466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2DE54F1-6029-4831-AA1D-EAC7B07B6135}" type="datetimeFigureOut">
              <a:rPr lang="en-US" smtClean="0"/>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DDC70D-566C-435D-85B3-E82466EB6193}" type="slidenum">
              <a:rPr lang="en-US" smtClean="0"/>
              <a:t>‹#›</a:t>
            </a:fld>
            <a:endParaRPr lang="en-US"/>
          </a:p>
        </p:txBody>
      </p:sp>
    </p:spTree>
    <p:extLst>
      <p:ext uri="{BB962C8B-B14F-4D97-AF65-F5344CB8AC3E}">
        <p14:creationId xmlns:p14="http://schemas.microsoft.com/office/powerpoint/2010/main" val="182949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D2DE54F1-6029-4831-AA1D-EAC7B07B6135}" type="datetimeFigureOut">
              <a:rPr lang="en-US" smtClean="0"/>
              <a:t>11/10/2025</a:t>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34DDC70D-566C-435D-85B3-E82466EB6193}" type="slidenum">
              <a:rPr lang="en-US" smtClean="0"/>
              <a:t>‹#›</a:t>
            </a:fld>
            <a:endParaRPr lang="en-US"/>
          </a:p>
        </p:txBody>
      </p:sp>
    </p:spTree>
    <p:extLst>
      <p:ext uri="{BB962C8B-B14F-4D97-AF65-F5344CB8AC3E}">
        <p14:creationId xmlns:p14="http://schemas.microsoft.com/office/powerpoint/2010/main" val="65895511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2DE54F1-6029-4831-AA1D-EAC7B07B6135}"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DDC70D-566C-435D-85B3-E82466EB6193}" type="slidenum">
              <a:rPr lang="en-US" smtClean="0"/>
              <a:t>‹#›</a:t>
            </a:fld>
            <a:endParaRPr lang="en-US"/>
          </a:p>
        </p:txBody>
      </p:sp>
    </p:spTree>
    <p:extLst>
      <p:ext uri="{BB962C8B-B14F-4D97-AF65-F5344CB8AC3E}">
        <p14:creationId xmlns:p14="http://schemas.microsoft.com/office/powerpoint/2010/main" val="3709860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2DE54F1-6029-4831-AA1D-EAC7B07B6135}" type="datetimeFigureOut">
              <a:rPr lang="en-US" smtClean="0"/>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DDC70D-566C-435D-85B3-E82466EB6193}" type="slidenum">
              <a:rPr lang="en-US" smtClean="0"/>
              <a:t>‹#›</a:t>
            </a:fld>
            <a:endParaRPr lang="en-US"/>
          </a:p>
        </p:txBody>
      </p:sp>
    </p:spTree>
    <p:extLst>
      <p:ext uri="{BB962C8B-B14F-4D97-AF65-F5344CB8AC3E}">
        <p14:creationId xmlns:p14="http://schemas.microsoft.com/office/powerpoint/2010/main" val="1153150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2DE54F1-6029-4831-AA1D-EAC7B07B6135}" type="datetimeFigureOut">
              <a:rPr lang="en-US" smtClean="0"/>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DDC70D-566C-435D-85B3-E82466EB6193}" type="slidenum">
              <a:rPr lang="en-US" smtClean="0"/>
              <a:t>‹#›</a:t>
            </a:fld>
            <a:endParaRPr lang="en-US"/>
          </a:p>
        </p:txBody>
      </p:sp>
    </p:spTree>
    <p:extLst>
      <p:ext uri="{BB962C8B-B14F-4D97-AF65-F5344CB8AC3E}">
        <p14:creationId xmlns:p14="http://schemas.microsoft.com/office/powerpoint/2010/main" val="1004078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DE54F1-6029-4831-AA1D-EAC7B07B6135}" type="datetimeFigureOut">
              <a:rPr lang="en-US" smtClean="0"/>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DDC70D-566C-435D-85B3-E82466EB6193}" type="slidenum">
              <a:rPr lang="en-US" smtClean="0"/>
              <a:t>‹#›</a:t>
            </a:fld>
            <a:endParaRPr lang="en-US"/>
          </a:p>
        </p:txBody>
      </p:sp>
    </p:spTree>
    <p:extLst>
      <p:ext uri="{BB962C8B-B14F-4D97-AF65-F5344CB8AC3E}">
        <p14:creationId xmlns:p14="http://schemas.microsoft.com/office/powerpoint/2010/main" val="2283383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smtClean="0"/>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8" name="Date Placeholder 7"/>
          <p:cNvSpPr>
            <a:spLocks noGrp="1"/>
          </p:cNvSpPr>
          <p:nvPr>
            <p:ph type="dt" sz="half" idx="10"/>
          </p:nvPr>
        </p:nvSpPr>
        <p:spPr/>
        <p:txBody>
          <a:bodyPr/>
          <a:lstStyle/>
          <a:p>
            <a:fld id="{D2DE54F1-6029-4831-AA1D-EAC7B07B6135}" type="datetimeFigureOut">
              <a:rPr lang="en-US" smtClean="0"/>
              <a:t>11/10/2025</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34DDC70D-566C-435D-85B3-E82466EB6193}" type="slidenum">
              <a:rPr lang="en-US" smtClean="0"/>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64123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D2DE54F1-6029-4831-AA1D-EAC7B07B6135}" type="datetimeFigureOut">
              <a:rPr lang="en-US" smtClean="0"/>
              <a:t>11/10/2025</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34DDC70D-566C-435D-85B3-E82466EB6193}"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94959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2DE54F1-6029-4831-AA1D-EAC7B07B6135}"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DDC70D-566C-435D-85B3-E82466EB6193}" type="slidenum">
              <a:rPr lang="en-US" smtClean="0"/>
              <a:t>‹#›</a:t>
            </a:fld>
            <a:endParaRPr lang="en-US"/>
          </a:p>
        </p:txBody>
      </p:sp>
    </p:spTree>
    <p:extLst>
      <p:ext uri="{BB962C8B-B14F-4D97-AF65-F5344CB8AC3E}">
        <p14:creationId xmlns:p14="http://schemas.microsoft.com/office/powerpoint/2010/main" val="1455608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2DE54F1-6029-4831-AA1D-EAC7B07B6135}"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DDC70D-566C-435D-85B3-E82466EB6193}" type="slidenum">
              <a:rPr lang="en-US" smtClean="0"/>
              <a:t>‹#›</a:t>
            </a:fld>
            <a:endParaRPr lang="en-US"/>
          </a:p>
        </p:txBody>
      </p:sp>
    </p:spTree>
    <p:extLst>
      <p:ext uri="{BB962C8B-B14F-4D97-AF65-F5344CB8AC3E}">
        <p14:creationId xmlns:p14="http://schemas.microsoft.com/office/powerpoint/2010/main" val="410044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58A604B-A786-4B82-9DCA-30C045006389}"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38BD61-9BF3-4DC0-B5D1-41F312932894}" type="slidenum">
              <a:rPr lang="en-US" smtClean="0"/>
              <a:t>‹#›</a:t>
            </a:fld>
            <a:endParaRPr lang="en-US"/>
          </a:p>
        </p:txBody>
      </p:sp>
    </p:spTree>
    <p:extLst>
      <p:ext uri="{BB962C8B-B14F-4D97-AF65-F5344CB8AC3E}">
        <p14:creationId xmlns:p14="http://schemas.microsoft.com/office/powerpoint/2010/main" val="40058907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8A604B-A786-4B82-9DCA-30C045006389}"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38BD61-9BF3-4DC0-B5D1-41F312932894}" type="slidenum">
              <a:rPr lang="en-US" smtClean="0"/>
              <a:t>‹#›</a:t>
            </a:fld>
            <a:endParaRPr lang="en-US"/>
          </a:p>
        </p:txBody>
      </p:sp>
    </p:spTree>
    <p:extLst>
      <p:ext uri="{BB962C8B-B14F-4D97-AF65-F5344CB8AC3E}">
        <p14:creationId xmlns:p14="http://schemas.microsoft.com/office/powerpoint/2010/main" val="3529167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58A604B-A786-4B82-9DCA-30C045006389}"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38BD61-9BF3-4DC0-B5D1-41F312932894}" type="slidenum">
              <a:rPr lang="en-US" smtClean="0"/>
              <a:t>‹#›</a:t>
            </a:fld>
            <a:endParaRPr lang="en-US"/>
          </a:p>
        </p:txBody>
      </p:sp>
    </p:spTree>
    <p:extLst>
      <p:ext uri="{BB962C8B-B14F-4D97-AF65-F5344CB8AC3E}">
        <p14:creationId xmlns:p14="http://schemas.microsoft.com/office/powerpoint/2010/main" val="27290846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58A604B-A786-4B82-9DCA-30C045006389}"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38BD61-9BF3-4DC0-B5D1-41F312932894}" type="slidenum">
              <a:rPr lang="en-US" smtClean="0"/>
              <a:t>‹#›</a:t>
            </a:fld>
            <a:endParaRPr lang="en-US"/>
          </a:p>
        </p:txBody>
      </p:sp>
    </p:spTree>
    <p:extLst>
      <p:ext uri="{BB962C8B-B14F-4D97-AF65-F5344CB8AC3E}">
        <p14:creationId xmlns:p14="http://schemas.microsoft.com/office/powerpoint/2010/main" val="816342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58A604B-A786-4B82-9DCA-30C045006389}" type="datetimeFigureOut">
              <a:rPr lang="en-US" smtClean="0"/>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38BD61-9BF3-4DC0-B5D1-41F312932894}" type="slidenum">
              <a:rPr lang="en-US" smtClean="0"/>
              <a:t>‹#›</a:t>
            </a:fld>
            <a:endParaRPr lang="en-US"/>
          </a:p>
        </p:txBody>
      </p:sp>
    </p:spTree>
    <p:extLst>
      <p:ext uri="{BB962C8B-B14F-4D97-AF65-F5344CB8AC3E}">
        <p14:creationId xmlns:p14="http://schemas.microsoft.com/office/powerpoint/2010/main" val="24521958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58A604B-A786-4B82-9DCA-30C045006389}" type="datetimeFigureOut">
              <a:rPr lang="en-US" smtClean="0"/>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38BD61-9BF3-4DC0-B5D1-41F312932894}" type="slidenum">
              <a:rPr lang="en-US" smtClean="0"/>
              <a:t>‹#›</a:t>
            </a:fld>
            <a:endParaRPr lang="en-US"/>
          </a:p>
        </p:txBody>
      </p:sp>
    </p:spTree>
    <p:extLst>
      <p:ext uri="{BB962C8B-B14F-4D97-AF65-F5344CB8AC3E}">
        <p14:creationId xmlns:p14="http://schemas.microsoft.com/office/powerpoint/2010/main" val="19223506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8A604B-A786-4B82-9DCA-30C045006389}" type="datetimeFigureOut">
              <a:rPr lang="en-US" smtClean="0"/>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38BD61-9BF3-4DC0-B5D1-41F312932894}" type="slidenum">
              <a:rPr lang="en-US" smtClean="0"/>
              <a:t>‹#›</a:t>
            </a:fld>
            <a:endParaRPr lang="en-US"/>
          </a:p>
        </p:txBody>
      </p:sp>
    </p:spTree>
    <p:extLst>
      <p:ext uri="{BB962C8B-B14F-4D97-AF65-F5344CB8AC3E}">
        <p14:creationId xmlns:p14="http://schemas.microsoft.com/office/powerpoint/2010/main" val="19271547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58A604B-A786-4B82-9DCA-30C045006389}"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38BD61-9BF3-4DC0-B5D1-41F312932894}" type="slidenum">
              <a:rPr lang="en-US" smtClean="0"/>
              <a:t>‹#›</a:t>
            </a:fld>
            <a:endParaRPr lang="en-US"/>
          </a:p>
        </p:txBody>
      </p:sp>
    </p:spTree>
    <p:extLst>
      <p:ext uri="{BB962C8B-B14F-4D97-AF65-F5344CB8AC3E}">
        <p14:creationId xmlns:p14="http://schemas.microsoft.com/office/powerpoint/2010/main" val="12048166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58A604B-A786-4B82-9DCA-30C045006389}"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38BD61-9BF3-4DC0-B5D1-41F312932894}" type="slidenum">
              <a:rPr lang="en-US" smtClean="0"/>
              <a:t>‹#›</a:t>
            </a:fld>
            <a:endParaRPr lang="en-US"/>
          </a:p>
        </p:txBody>
      </p:sp>
    </p:spTree>
    <p:extLst>
      <p:ext uri="{BB962C8B-B14F-4D97-AF65-F5344CB8AC3E}">
        <p14:creationId xmlns:p14="http://schemas.microsoft.com/office/powerpoint/2010/main" val="7976912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8A604B-A786-4B82-9DCA-30C045006389}"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38BD61-9BF3-4DC0-B5D1-41F312932894}" type="slidenum">
              <a:rPr lang="en-US" smtClean="0"/>
              <a:t>‹#›</a:t>
            </a:fld>
            <a:endParaRPr lang="en-US"/>
          </a:p>
        </p:txBody>
      </p:sp>
    </p:spTree>
    <p:extLst>
      <p:ext uri="{BB962C8B-B14F-4D97-AF65-F5344CB8AC3E}">
        <p14:creationId xmlns:p14="http://schemas.microsoft.com/office/powerpoint/2010/main" val="8924926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8A604B-A786-4B82-9DCA-30C045006389}"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38BD61-9BF3-4DC0-B5D1-41F312932894}" type="slidenum">
              <a:rPr lang="en-US" smtClean="0"/>
              <a:t>‹#›</a:t>
            </a:fld>
            <a:endParaRPr lang="en-US"/>
          </a:p>
        </p:txBody>
      </p:sp>
    </p:spTree>
    <p:extLst>
      <p:ext uri="{BB962C8B-B14F-4D97-AF65-F5344CB8AC3E}">
        <p14:creationId xmlns:p14="http://schemas.microsoft.com/office/powerpoint/2010/main" val="2573009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59951" y="199480"/>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D2DE54F1-6029-4831-AA1D-EAC7B07B6135}" type="datetimeFigureOut">
              <a:rPr lang="en-US" smtClean="0"/>
              <a:t>11/10/2025</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DDC70D-566C-435D-85B3-E82466EB6193}" type="slidenum">
              <a:rPr lang="en-US" smtClean="0"/>
              <a:t>‹#›</a:t>
            </a:fld>
            <a:endParaRPr lang="en-US"/>
          </a:p>
        </p:txBody>
      </p:sp>
    </p:spTree>
    <p:extLst>
      <p:ext uri="{BB962C8B-B14F-4D97-AF65-F5344CB8AC3E}">
        <p14:creationId xmlns:p14="http://schemas.microsoft.com/office/powerpoint/2010/main" val="327652679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xStyles>
    <p:titleStyle>
      <a:lvl1pPr algn="l" defTabSz="914400" rtl="0" eaLnBrk="1" latinLnBrk="0" hangingPunct="1">
        <a:lnSpc>
          <a:spcPct val="90000"/>
        </a:lnSpc>
        <a:spcBef>
          <a:spcPct val="0"/>
        </a:spcBef>
        <a:buNone/>
        <a:defRPr lang="en-US" sz="4800" kern="1200" cap="none" spc="0" baseline="0" dirty="0">
          <a:solidFill>
            <a:srgbClr val="00B050"/>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2"/>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8A604B-A786-4B82-9DCA-30C045006389}" type="datetimeFigureOut">
              <a:rPr lang="en-US" smtClean="0"/>
              <a:t>11/10/2025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38BD61-9BF3-4DC0-B5D1-41F312932894}" type="slidenum">
              <a:rPr lang="en-US" smtClean="0"/>
              <a:t>‹#›</a:t>
            </a:fld>
            <a:endParaRPr lang="en-US"/>
          </a:p>
        </p:txBody>
      </p:sp>
    </p:spTree>
    <p:extLst>
      <p:ext uri="{BB962C8B-B14F-4D97-AF65-F5344CB8AC3E}">
        <p14:creationId xmlns:p14="http://schemas.microsoft.com/office/powerpoint/2010/main" val="2024476393"/>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2400" dirty="0" smtClean="0"/>
              <a:t>A PRESENTETION ABOUT </a:t>
            </a:r>
            <a:r>
              <a:rPr lang="en-US" sz="2400" dirty="0"/>
              <a:t>HYDROLOGICAL CATCHMENT DELINEATION AND RUN-OFF MEASUREMENT PROJECT &amp; A DEVELOPED PROFFESSIONAL GRAPHICAL USER INTERFACE (GUI). </a:t>
            </a:r>
          </a:p>
        </p:txBody>
      </p:sp>
      <p:sp>
        <p:nvSpPr>
          <p:cNvPr id="3" name="Subtitle 2"/>
          <p:cNvSpPr>
            <a:spLocks noGrp="1"/>
          </p:cNvSpPr>
          <p:nvPr>
            <p:ph type="subTitle" idx="1"/>
          </p:nvPr>
        </p:nvSpPr>
        <p:spPr/>
        <p:txBody>
          <a:bodyPr/>
          <a:lstStyle/>
          <a:p>
            <a:r>
              <a:rPr lang="en-US" dirty="0" smtClean="0"/>
              <a:t>USING MATLABSOFTWARE</a:t>
            </a:r>
            <a:endParaRPr lang="en-US" dirty="0"/>
          </a:p>
        </p:txBody>
      </p:sp>
    </p:spTree>
    <p:extLst>
      <p:ext uri="{BB962C8B-B14F-4D97-AF65-F5344CB8AC3E}">
        <p14:creationId xmlns:p14="http://schemas.microsoft.com/office/powerpoint/2010/main" val="751537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1600" dirty="0" smtClean="0"/>
              <a:t>PRESENTED BY GROUP 11 MEMBERS.</a:t>
            </a:r>
            <a:endParaRPr lang="en-US" sz="16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8428109"/>
              </p:ext>
            </p:extLst>
          </p:nvPr>
        </p:nvGraphicFramePr>
        <p:xfrm>
          <a:off x="1146631" y="1233716"/>
          <a:ext cx="9027883" cy="5791201"/>
        </p:xfrm>
        <a:graphic>
          <a:graphicData uri="http://schemas.openxmlformats.org/drawingml/2006/table">
            <a:tbl>
              <a:tblPr firstRow="1" firstCol="1" bandRow="1">
                <a:tableStyleId>{5C22544A-7EE6-4342-B048-85BDC9FD1C3A}</a:tableStyleId>
              </a:tblPr>
              <a:tblGrid>
                <a:gridCol w="2374984">
                  <a:extLst>
                    <a:ext uri="{9D8B030D-6E8A-4147-A177-3AD203B41FA5}">
                      <a16:colId xmlns:a16="http://schemas.microsoft.com/office/drawing/2014/main" val="345739705"/>
                    </a:ext>
                  </a:extLst>
                </a:gridCol>
                <a:gridCol w="2637999">
                  <a:extLst>
                    <a:ext uri="{9D8B030D-6E8A-4147-A177-3AD203B41FA5}">
                      <a16:colId xmlns:a16="http://schemas.microsoft.com/office/drawing/2014/main" val="2072743363"/>
                    </a:ext>
                  </a:extLst>
                </a:gridCol>
                <a:gridCol w="2258197">
                  <a:extLst>
                    <a:ext uri="{9D8B030D-6E8A-4147-A177-3AD203B41FA5}">
                      <a16:colId xmlns:a16="http://schemas.microsoft.com/office/drawing/2014/main" val="3170008290"/>
                    </a:ext>
                  </a:extLst>
                </a:gridCol>
                <a:gridCol w="1756703">
                  <a:extLst>
                    <a:ext uri="{9D8B030D-6E8A-4147-A177-3AD203B41FA5}">
                      <a16:colId xmlns:a16="http://schemas.microsoft.com/office/drawing/2014/main" val="3086488377"/>
                    </a:ext>
                  </a:extLst>
                </a:gridCol>
              </a:tblGrid>
              <a:tr h="780961">
                <a:tc>
                  <a:txBody>
                    <a:bodyPr/>
                    <a:lstStyle/>
                    <a:p>
                      <a:pPr marL="95885" indent="5715">
                        <a:lnSpc>
                          <a:spcPct val="106000"/>
                        </a:lnSpc>
                        <a:spcAft>
                          <a:spcPts val="645"/>
                        </a:spcAft>
                      </a:pPr>
                      <a:r>
                        <a:rPr lang="en-US" sz="1200">
                          <a:effectLst/>
                        </a:rPr>
                        <a:t>NAME</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REGISTRATION NUMBER</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PROGRAM OF STUDY</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SIGNATURE</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51369852"/>
                  </a:ext>
                </a:extLst>
              </a:tr>
              <a:tr h="780961">
                <a:tc>
                  <a:txBody>
                    <a:bodyPr/>
                    <a:lstStyle/>
                    <a:p>
                      <a:pPr marL="95885" indent="5715">
                        <a:lnSpc>
                          <a:spcPct val="106000"/>
                        </a:lnSpc>
                        <a:spcAft>
                          <a:spcPts val="645"/>
                        </a:spcAft>
                      </a:pPr>
                      <a:r>
                        <a:rPr lang="en-US" sz="1200">
                          <a:effectLst/>
                        </a:rPr>
                        <a:t>MUKYALA ROSE MIIRIAM</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BU/UP/2024/1041</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WAR</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 </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08822677"/>
                  </a:ext>
                </a:extLst>
              </a:tr>
              <a:tr h="780961">
                <a:tc>
                  <a:txBody>
                    <a:bodyPr/>
                    <a:lstStyle/>
                    <a:p>
                      <a:pPr marL="95885" indent="5715">
                        <a:lnSpc>
                          <a:spcPct val="106000"/>
                        </a:lnSpc>
                        <a:spcAft>
                          <a:spcPts val="645"/>
                        </a:spcAft>
                      </a:pPr>
                      <a:r>
                        <a:rPr lang="en-US" sz="1200">
                          <a:effectLst/>
                        </a:rPr>
                        <a:t>OGWANG EMMANUEL </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BU/UP/2024/3254</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WAR</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 </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14981526"/>
                  </a:ext>
                </a:extLst>
              </a:tr>
              <a:tr h="381051">
                <a:tc>
                  <a:txBody>
                    <a:bodyPr/>
                    <a:lstStyle/>
                    <a:p>
                      <a:pPr marL="95885" indent="5715">
                        <a:lnSpc>
                          <a:spcPct val="106000"/>
                        </a:lnSpc>
                        <a:spcAft>
                          <a:spcPts val="645"/>
                        </a:spcAft>
                      </a:pPr>
                      <a:r>
                        <a:rPr lang="en-US" sz="1200">
                          <a:effectLst/>
                        </a:rPr>
                        <a:t>NSAMBA SHAFFIC</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BU/UP/2024/5346</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MEB</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 </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25418907"/>
                  </a:ext>
                </a:extLst>
              </a:tr>
              <a:tr h="381051">
                <a:tc>
                  <a:txBody>
                    <a:bodyPr/>
                    <a:lstStyle/>
                    <a:p>
                      <a:pPr marL="95885" indent="5715">
                        <a:lnSpc>
                          <a:spcPct val="106000"/>
                        </a:lnSpc>
                        <a:spcAft>
                          <a:spcPts val="645"/>
                        </a:spcAft>
                      </a:pPr>
                      <a:r>
                        <a:rPr lang="en-US" sz="1200">
                          <a:effectLst/>
                        </a:rPr>
                        <a:t>KAGODA ENOCK</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BU/UP/2023/1097</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WAR</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 </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50866621"/>
                  </a:ext>
                </a:extLst>
              </a:tr>
              <a:tr h="381051">
                <a:tc>
                  <a:txBody>
                    <a:bodyPr/>
                    <a:lstStyle/>
                    <a:p>
                      <a:pPr marL="95885" indent="5715">
                        <a:lnSpc>
                          <a:spcPct val="106000"/>
                        </a:lnSpc>
                        <a:spcAft>
                          <a:spcPts val="645"/>
                        </a:spcAft>
                      </a:pPr>
                      <a:r>
                        <a:rPr lang="en-US" sz="1200">
                          <a:effectLst/>
                        </a:rPr>
                        <a:t>BUSUULWA HASSAN</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BU/UP/2024/3732</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AMI</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 </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30398848"/>
                  </a:ext>
                </a:extLst>
              </a:tr>
              <a:tr h="381051">
                <a:tc>
                  <a:txBody>
                    <a:bodyPr/>
                    <a:lstStyle/>
                    <a:p>
                      <a:pPr marL="95885" indent="5715">
                        <a:lnSpc>
                          <a:spcPct val="106000"/>
                        </a:lnSpc>
                        <a:spcAft>
                          <a:spcPts val="645"/>
                        </a:spcAft>
                      </a:pPr>
                      <a:r>
                        <a:rPr lang="en-US" sz="1200">
                          <a:effectLst/>
                        </a:rPr>
                        <a:t>WAMBI KENNETH</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BU/UP/2023/0950</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PTI</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 </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48562202"/>
                  </a:ext>
                </a:extLst>
              </a:tr>
              <a:tr h="381051">
                <a:tc>
                  <a:txBody>
                    <a:bodyPr/>
                    <a:lstStyle/>
                    <a:p>
                      <a:pPr marL="95885" indent="5715">
                        <a:lnSpc>
                          <a:spcPct val="106000"/>
                        </a:lnSpc>
                        <a:spcAft>
                          <a:spcPts val="645"/>
                        </a:spcAft>
                      </a:pPr>
                      <a:r>
                        <a:rPr lang="en-US" sz="1200">
                          <a:effectLst/>
                        </a:rPr>
                        <a:t>ATWIINE SANDRAH</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BU/UG/2024/2632</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MEB</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 </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70487325"/>
                  </a:ext>
                </a:extLst>
              </a:tr>
              <a:tr h="780961">
                <a:tc>
                  <a:txBody>
                    <a:bodyPr/>
                    <a:lstStyle/>
                    <a:p>
                      <a:pPr marL="95885" indent="5715">
                        <a:lnSpc>
                          <a:spcPct val="106000"/>
                        </a:lnSpc>
                        <a:spcAft>
                          <a:spcPts val="645"/>
                        </a:spcAft>
                      </a:pPr>
                      <a:r>
                        <a:rPr lang="en-US" sz="1200">
                          <a:effectLst/>
                        </a:rPr>
                        <a:t>ABESIGA KEITH ADAMS</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BU/UP/2024/3974</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AMI</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 </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75470613"/>
                  </a:ext>
                </a:extLst>
              </a:tr>
              <a:tr h="381051">
                <a:tc>
                  <a:txBody>
                    <a:bodyPr/>
                    <a:lstStyle/>
                    <a:p>
                      <a:pPr marL="95885" indent="5715">
                        <a:lnSpc>
                          <a:spcPct val="106000"/>
                        </a:lnSpc>
                        <a:spcAft>
                          <a:spcPts val="645"/>
                        </a:spcAft>
                      </a:pPr>
                      <a:r>
                        <a:rPr lang="en-US" sz="1200">
                          <a:effectLst/>
                        </a:rPr>
                        <a:t>WASSWA FRANCIS</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BU/UG/2024/2669</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APE</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 </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56713617"/>
                  </a:ext>
                </a:extLst>
              </a:tr>
              <a:tr h="381051">
                <a:tc>
                  <a:txBody>
                    <a:bodyPr/>
                    <a:lstStyle/>
                    <a:p>
                      <a:pPr marL="95885" indent="5715">
                        <a:lnSpc>
                          <a:spcPct val="106000"/>
                        </a:lnSpc>
                        <a:spcAft>
                          <a:spcPts val="645"/>
                        </a:spcAft>
                      </a:pPr>
                      <a:r>
                        <a:rPr lang="en-US" sz="1200">
                          <a:effectLst/>
                        </a:rPr>
                        <a:t>NANDERA JULIET</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BU/UP/2024/1047</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a:effectLst/>
                        </a:rPr>
                        <a:t>WAR</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95885" indent="5715">
                        <a:lnSpc>
                          <a:spcPct val="106000"/>
                        </a:lnSpc>
                        <a:spcAft>
                          <a:spcPts val="645"/>
                        </a:spcAft>
                      </a:pPr>
                      <a:r>
                        <a:rPr lang="en-US" sz="1200" dirty="0">
                          <a:effectLst/>
                        </a:rPr>
                        <a:t> </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87643360"/>
                  </a:ext>
                </a:extLst>
              </a:tr>
            </a:tbl>
          </a:graphicData>
        </a:graphic>
      </p:graphicFrame>
      <p:sp>
        <p:nvSpPr>
          <p:cNvPr id="5" name="Rectangle 1"/>
          <p:cNvSpPr>
            <a:spLocks noChangeArrowheads="1"/>
          </p:cNvSpPr>
          <p:nvPr/>
        </p:nvSpPr>
        <p:spPr bwMode="auto">
          <a:xfrm>
            <a:off x="-4234244" y="28545"/>
            <a:ext cx="188428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2000"/>
          </a:p>
        </p:txBody>
      </p:sp>
    </p:spTree>
    <p:extLst>
      <p:ext uri="{BB962C8B-B14F-4D97-AF65-F5344CB8AC3E}">
        <p14:creationId xmlns:p14="http://schemas.microsoft.com/office/powerpoint/2010/main" val="3107083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    </a:t>
            </a:r>
            <a:r>
              <a:rPr lang="en-US" sz="2400" dirty="0" smtClean="0"/>
              <a:t>INTRODUCTION</a:t>
            </a:r>
            <a:endParaRPr lang="en-US" sz="2400" dirty="0"/>
          </a:p>
        </p:txBody>
      </p:sp>
      <p:sp>
        <p:nvSpPr>
          <p:cNvPr id="3" name="Content Placeholder 2"/>
          <p:cNvSpPr>
            <a:spLocks noGrp="1"/>
          </p:cNvSpPr>
          <p:nvPr>
            <p:ph idx="1"/>
          </p:nvPr>
        </p:nvSpPr>
        <p:spPr/>
        <p:txBody>
          <a:bodyPr>
            <a:normAutofit/>
          </a:bodyPr>
          <a:lstStyle/>
          <a:p>
            <a:r>
              <a:rPr lang="en-US" dirty="0"/>
              <a:t>Hydrological catchment delineation and run-off </a:t>
            </a:r>
            <a:r>
              <a:rPr lang="en-US" dirty="0" smtClean="0"/>
              <a:t>measurement. </a:t>
            </a:r>
          </a:p>
          <a:p>
            <a:r>
              <a:rPr lang="en-US" dirty="0" smtClean="0"/>
              <a:t>This project involves </a:t>
            </a:r>
            <a:r>
              <a:rPr lang="en-US" dirty="0"/>
              <a:t>defining the land area that contributes water to a specific outlet and quantifying the water flowing from it. This work is essential for water resource management, hydraulic structure design, and flood prediction. </a:t>
            </a:r>
            <a:endParaRPr lang="en-US" b="1" dirty="0" smtClean="0"/>
          </a:p>
          <a:p>
            <a:endParaRPr lang="en-US" b="1" dirty="0" smtClean="0"/>
          </a:p>
          <a:p>
            <a:r>
              <a:rPr lang="en-US" b="1" dirty="0" smtClean="0"/>
              <a:t>It also </a:t>
            </a:r>
            <a:r>
              <a:rPr lang="en-US" b="1" dirty="0"/>
              <a:t>involves different research key terminologies, systems, design and methods of data collection carried out by group11 members about the hydrological catchment delineation and run-off measurement project	</a:t>
            </a:r>
          </a:p>
          <a:p>
            <a:r>
              <a:rPr lang="en-US" dirty="0"/>
              <a:t> </a:t>
            </a:r>
          </a:p>
          <a:p>
            <a:endParaRPr lang="en-US" dirty="0"/>
          </a:p>
        </p:txBody>
      </p:sp>
    </p:spTree>
    <p:extLst>
      <p:ext uri="{BB962C8B-B14F-4D97-AF65-F5344CB8AC3E}">
        <p14:creationId xmlns:p14="http://schemas.microsoft.com/office/powerpoint/2010/main" val="1039403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HYDROLOGICAL CATCHMENT DELINEATION</a:t>
            </a:r>
            <a:endParaRPr lang="en-US" sz="2400" dirty="0"/>
          </a:p>
        </p:txBody>
      </p:sp>
      <p:sp>
        <p:nvSpPr>
          <p:cNvPr id="3" name="Content Placeholder 2"/>
          <p:cNvSpPr>
            <a:spLocks noGrp="1"/>
          </p:cNvSpPr>
          <p:nvPr>
            <p:ph idx="1"/>
          </p:nvPr>
        </p:nvSpPr>
        <p:spPr/>
        <p:txBody>
          <a:bodyPr>
            <a:normAutofit fontScale="85000" lnSpcReduction="10000"/>
          </a:bodyPr>
          <a:lstStyle/>
          <a:p>
            <a:r>
              <a:rPr lang="en-US" dirty="0"/>
              <a:t>Catchment (watershed or drainage basin) delineation is the process of defining the boundary where all precipitation drains to a single, common outlet or pour point. </a:t>
            </a:r>
          </a:p>
          <a:p>
            <a:pPr marL="0" indent="0">
              <a:buNone/>
            </a:pPr>
            <a:r>
              <a:rPr lang="en-US" b="1" dirty="0"/>
              <a:t>METHODS:</a:t>
            </a:r>
          </a:p>
          <a:p>
            <a:pPr lvl="0"/>
            <a:r>
              <a:rPr lang="en-US" i="1" dirty="0"/>
              <a:t>Manual Method</a:t>
            </a:r>
            <a:r>
              <a:rPr lang="en-US" b="1" dirty="0"/>
              <a:t>:</a:t>
            </a:r>
            <a:r>
              <a:rPr lang="en-US" dirty="0"/>
              <a:t> </a:t>
            </a:r>
          </a:p>
          <a:p>
            <a:pPr marL="0" indent="0">
              <a:buNone/>
            </a:pPr>
            <a:r>
              <a:rPr lang="en-US" dirty="0" smtClean="0"/>
              <a:t>           Involves </a:t>
            </a:r>
            <a:r>
              <a:rPr lang="en-US" dirty="0"/>
              <a:t>using topographic maps, identifying high points (ridges) and drawing boundary lines perpendicular to the contour lines, ensuring the boundary does not cross any streams except at the outlet.</a:t>
            </a:r>
          </a:p>
          <a:p>
            <a:r>
              <a:rPr lang="en-US" b="1" dirty="0"/>
              <a:t>Digital/GIS Method (Most Accurate):</a:t>
            </a:r>
          </a:p>
          <a:p>
            <a:pPr marL="0" indent="0">
              <a:buNone/>
            </a:pPr>
            <a:r>
              <a:rPr lang="en-US" dirty="0" smtClean="0"/>
              <a:t>            </a:t>
            </a:r>
            <a:r>
              <a:rPr lang="en-US" dirty="0"/>
              <a:t> Uses a Digital Elevation Model (DEM) and specialized software (e.g., ArcGIS, QGIS, HEC-HMS, and WEAP). The general steps include:</a:t>
            </a:r>
          </a:p>
          <a:p>
            <a:pPr marL="457200" lvl="1" indent="0">
              <a:buNone/>
            </a:pPr>
            <a:r>
              <a:rPr lang="en-US" i="1" dirty="0"/>
              <a:t>Acquire and condition the DEM</a:t>
            </a:r>
            <a:r>
              <a:rPr lang="en-US" b="1" dirty="0"/>
              <a:t>:</a:t>
            </a:r>
            <a:endParaRPr lang="en-US" dirty="0"/>
          </a:p>
          <a:p>
            <a:pPr marL="0" indent="0">
              <a:buNone/>
            </a:pPr>
            <a:r>
              <a:rPr lang="en-US" dirty="0" smtClean="0"/>
              <a:t>             </a:t>
            </a:r>
            <a:r>
              <a:rPr lang="en-US" dirty="0"/>
              <a:t> Fill sinks (correct imperfections in the elevation data).</a:t>
            </a:r>
          </a:p>
          <a:p>
            <a:r>
              <a:rPr lang="en-US" b="1" i="1" dirty="0"/>
              <a:t>Calculate Flow Direction:</a:t>
            </a:r>
          </a:p>
          <a:p>
            <a:pPr marL="0" indent="0">
              <a:buNone/>
            </a:pPr>
            <a:r>
              <a:rPr lang="en-US" dirty="0" smtClean="0"/>
              <a:t>       </a:t>
            </a:r>
            <a:r>
              <a:rPr lang="en-US" dirty="0"/>
              <a:t> Determine the path water will take from each cell (pixel) in the DEM.</a:t>
            </a:r>
          </a:p>
          <a:p>
            <a:endParaRPr lang="en-US" sz="6000" dirty="0"/>
          </a:p>
        </p:txBody>
      </p:sp>
    </p:spTree>
    <p:extLst>
      <p:ext uri="{BB962C8B-B14F-4D97-AF65-F5344CB8AC3E}">
        <p14:creationId xmlns:p14="http://schemas.microsoft.com/office/powerpoint/2010/main" val="884009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b="1" dirty="0" smtClean="0"/>
              <a:t>Methods continuation</a:t>
            </a:r>
            <a:endParaRPr lang="en-US" sz="2400" b="1" dirty="0"/>
          </a:p>
        </p:txBody>
      </p:sp>
      <p:sp>
        <p:nvSpPr>
          <p:cNvPr id="3" name="Content Placeholder 2"/>
          <p:cNvSpPr>
            <a:spLocks noGrp="1"/>
          </p:cNvSpPr>
          <p:nvPr>
            <p:ph idx="1"/>
          </p:nvPr>
        </p:nvSpPr>
        <p:spPr/>
        <p:txBody>
          <a:bodyPr>
            <a:normAutofit/>
          </a:bodyPr>
          <a:lstStyle/>
          <a:p>
            <a:r>
              <a:rPr lang="en-US" b="1" i="1" dirty="0" smtClean="0"/>
              <a:t>Calculate Flow Accumulation:</a:t>
            </a:r>
          </a:p>
          <a:p>
            <a:pPr marL="0" indent="0">
              <a:buNone/>
            </a:pPr>
            <a:r>
              <a:rPr lang="en-US" dirty="0" smtClean="0"/>
              <a:t>            Determine the number of upstream cells that drain into each cell; high accumulation areas usually indicate stream channels.</a:t>
            </a:r>
          </a:p>
          <a:p>
            <a:r>
              <a:rPr lang="en-US" b="1" i="1" dirty="0" smtClean="0"/>
              <a:t>Define the Pour Point (Outlet):</a:t>
            </a:r>
          </a:p>
          <a:p>
            <a:pPr marL="0" indent="0">
              <a:buNone/>
            </a:pPr>
            <a:r>
              <a:rPr lang="en-US" dirty="0" smtClean="0"/>
              <a:t>          Specify the exact location on the stream network for which the catchment is being delineated (e.g., a dam, a bridge, or a gauge station).</a:t>
            </a:r>
          </a:p>
          <a:p>
            <a:r>
              <a:rPr lang="en-US" b="1" i="1" dirty="0" smtClean="0"/>
              <a:t>Run the Watershed Tool:</a:t>
            </a:r>
          </a:p>
          <a:p>
            <a:pPr marL="0" indent="0">
              <a:buNone/>
            </a:pPr>
            <a:r>
              <a:rPr lang="en-US" dirty="0" smtClean="0"/>
              <a:t>              The software uses the flow direction and pour point data to automatically generate the catchment boundary as a raster, which can then be converted into a polygon for area calculation and further analysis. </a:t>
            </a:r>
          </a:p>
          <a:p>
            <a:endParaRPr lang="en-US" dirty="0"/>
          </a:p>
        </p:txBody>
      </p:sp>
    </p:spTree>
    <p:extLst>
      <p:ext uri="{BB962C8B-B14F-4D97-AF65-F5344CB8AC3E}">
        <p14:creationId xmlns:p14="http://schemas.microsoft.com/office/powerpoint/2010/main" val="4103792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RUN-OFF MEASUREMENT</a:t>
            </a:r>
            <a:endParaRPr lang="en-US" sz="2400" dirty="0"/>
          </a:p>
        </p:txBody>
      </p:sp>
      <p:sp>
        <p:nvSpPr>
          <p:cNvPr id="3" name="Content Placeholder 2"/>
          <p:cNvSpPr>
            <a:spLocks noGrp="1"/>
          </p:cNvSpPr>
          <p:nvPr>
            <p:ph idx="1"/>
          </p:nvPr>
        </p:nvSpPr>
        <p:spPr>
          <a:xfrm>
            <a:off x="838200" y="1825624"/>
            <a:ext cx="10515600" cy="4504837"/>
          </a:xfrm>
        </p:spPr>
        <p:txBody>
          <a:bodyPr>
            <a:noAutofit/>
          </a:bodyPr>
          <a:lstStyle/>
          <a:p>
            <a:r>
              <a:rPr lang="en-US" sz="1600" dirty="0"/>
              <a:t>Run-off measurement quantifies the volume and rate of surface water flow. This can be done in the field (direct measurement) or through modeling (estimation). </a:t>
            </a:r>
          </a:p>
          <a:p>
            <a:r>
              <a:rPr lang="en-US" sz="1600" b="1" dirty="0" smtClean="0"/>
              <a:t>Methods</a:t>
            </a:r>
            <a:endParaRPr lang="en-US" sz="1600" b="1" i="1" dirty="0"/>
          </a:p>
          <a:p>
            <a:r>
              <a:rPr lang="en-US" sz="1600" b="1" dirty="0"/>
              <a:t>Area-Velocity Method:</a:t>
            </a:r>
          </a:p>
          <a:p>
            <a:pPr marL="0" indent="0">
              <a:buNone/>
            </a:pPr>
            <a:r>
              <a:rPr lang="en-US" sz="1600" dirty="0"/>
              <a:t> Involves measuring the cross-sectional area of a river and the water velocity (using current meters or flow probes) at various points to calculate discharge (volume per time).</a:t>
            </a:r>
          </a:p>
          <a:p>
            <a:pPr lvl="1"/>
            <a:r>
              <a:rPr lang="en-US" sz="1600" b="1" dirty="0"/>
              <a:t>Weirs and Flumes:</a:t>
            </a:r>
          </a:p>
          <a:p>
            <a:r>
              <a:rPr lang="en-US" sz="1600" dirty="0"/>
              <a:t> Installing standardized hydraulic structures (weirs or flumes) in a channel, where flow rate can be determined by measuring the water level (stage).</a:t>
            </a:r>
          </a:p>
          <a:p>
            <a:pPr lvl="1"/>
            <a:r>
              <a:rPr lang="en-US" sz="1600" b="1" dirty="0"/>
              <a:t>Tracer Dilution Methods:</a:t>
            </a:r>
            <a:r>
              <a:rPr lang="en-US" sz="1600" dirty="0"/>
              <a:t> </a:t>
            </a:r>
          </a:p>
          <a:p>
            <a:r>
              <a:rPr lang="en-US" sz="1600" dirty="0"/>
              <a:t>Injecting a known concentration of a chemical tracer (like salt) into a stream and measuring its dilution downstream to calculate flow rate, useful for turbulent or irregularly shaped channels where current meters are difficult to use.</a:t>
            </a:r>
          </a:p>
          <a:p>
            <a:pPr lvl="1"/>
            <a:r>
              <a:rPr lang="en-US" sz="1600" b="1" dirty="0"/>
              <a:t>Water Level Recorders:</a:t>
            </a:r>
          </a:p>
          <a:p>
            <a:r>
              <a:rPr lang="en-US" sz="1600" dirty="0"/>
              <a:t> Using instruments like ultrasonic sensors or float-and-counterweight systems in stilling wells to continuously record water levels, which are then correlated with discharge measurements to create a rating curve.</a:t>
            </a:r>
          </a:p>
          <a:p>
            <a:endParaRPr lang="en-US" sz="1600" dirty="0"/>
          </a:p>
        </p:txBody>
      </p:sp>
    </p:spTree>
    <p:extLst>
      <p:ext uri="{BB962C8B-B14F-4D97-AF65-F5344CB8AC3E}">
        <p14:creationId xmlns:p14="http://schemas.microsoft.com/office/powerpoint/2010/main" val="1412577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dirty="0" smtClean="0"/>
              <a:t>MODELING AND ESTIMATION</a:t>
            </a:r>
            <a:endParaRPr lang="en-US" sz="2400" dirty="0"/>
          </a:p>
        </p:txBody>
      </p:sp>
      <p:sp>
        <p:nvSpPr>
          <p:cNvPr id="3" name="Content Placeholder 2"/>
          <p:cNvSpPr>
            <a:spLocks noGrp="1"/>
          </p:cNvSpPr>
          <p:nvPr>
            <p:ph idx="1"/>
          </p:nvPr>
        </p:nvSpPr>
        <p:spPr/>
        <p:txBody>
          <a:bodyPr>
            <a:normAutofit/>
          </a:bodyPr>
          <a:lstStyle/>
          <a:p>
            <a:r>
              <a:rPr lang="en-US" b="1" i="1" dirty="0"/>
              <a:t>Runoff Coefficient Method (Rational Method):</a:t>
            </a:r>
          </a:p>
          <a:p>
            <a:pPr marL="0" indent="0">
              <a:buNone/>
            </a:pPr>
            <a:r>
              <a:rPr lang="en-US" dirty="0" smtClean="0"/>
              <a:t>         </a:t>
            </a:r>
            <a:r>
              <a:rPr lang="en-US" dirty="0"/>
              <a:t> A simple empirical method that uses a coefficient (C) representing the land cover's permeability to estimate runoff volume from precipitation.</a:t>
            </a:r>
          </a:p>
          <a:p>
            <a:r>
              <a:rPr lang="en-US" b="1" dirty="0"/>
              <a:t>SCS Curve Number (SCS-CN) Method: </a:t>
            </a:r>
          </a:p>
          <a:p>
            <a:pPr marL="0" indent="0">
              <a:buNone/>
            </a:pPr>
            <a:r>
              <a:rPr lang="en-US" dirty="0" smtClean="0"/>
              <a:t>         A </a:t>
            </a:r>
            <a:r>
              <a:rPr lang="en-US" dirty="0"/>
              <a:t>widely used method by the Natural Resources Conservation Service to estimate the depth of direct surface runoff for a given rainfall event, considering soil type and land use.</a:t>
            </a:r>
          </a:p>
          <a:p>
            <a:r>
              <a:rPr lang="en-US" b="1" dirty="0"/>
              <a:t>Hydrological Models (e.g., HEC-HMS, SWAT): </a:t>
            </a:r>
          </a:p>
          <a:p>
            <a:pPr marL="0" indent="0">
              <a:buNone/>
            </a:pPr>
            <a:r>
              <a:rPr lang="en-US" dirty="0" smtClean="0"/>
              <a:t>          Computer </a:t>
            </a:r>
            <a:r>
              <a:rPr lang="en-US" dirty="0"/>
              <a:t>models that simulate the entire hydrological cycle, using various data inputs (precipitation, land cover, soil type, DEM) to generate detailed runoff hydrographs and predict flood events. </a:t>
            </a:r>
          </a:p>
          <a:p>
            <a:endParaRPr lang="en-US" dirty="0"/>
          </a:p>
        </p:txBody>
      </p:sp>
    </p:spTree>
    <p:extLst>
      <p:ext uri="{BB962C8B-B14F-4D97-AF65-F5344CB8AC3E}">
        <p14:creationId xmlns:p14="http://schemas.microsoft.com/office/powerpoint/2010/main" val="3463214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 </a:t>
            </a:r>
            <a:r>
              <a:rPr lang="en-US" sz="2400" b="1" dirty="0"/>
              <a:t>PROJECT COMPONENTS</a:t>
            </a:r>
            <a:endParaRPr lang="en-US" sz="2400" dirty="0"/>
          </a:p>
        </p:txBody>
      </p:sp>
      <p:sp>
        <p:nvSpPr>
          <p:cNvPr id="3" name="Content Placeholder 2"/>
          <p:cNvSpPr>
            <a:spLocks noGrp="1"/>
          </p:cNvSpPr>
          <p:nvPr>
            <p:ph idx="1"/>
          </p:nvPr>
        </p:nvSpPr>
        <p:spPr/>
        <p:txBody>
          <a:bodyPr>
            <a:normAutofit fontScale="92500" lnSpcReduction="20000"/>
          </a:bodyPr>
          <a:lstStyle/>
          <a:p>
            <a:r>
              <a:rPr lang="en-US" dirty="0" smtClean="0"/>
              <a:t>The project involved the following components;</a:t>
            </a:r>
          </a:p>
          <a:p>
            <a:pPr lvl="0"/>
            <a:r>
              <a:rPr lang="en-US" b="1" dirty="0"/>
              <a:t>Data Collection:</a:t>
            </a:r>
          </a:p>
          <a:p>
            <a:pPr marL="0" indent="0">
              <a:buNone/>
            </a:pPr>
            <a:r>
              <a:rPr lang="en-US" dirty="0" smtClean="0"/>
              <a:t>         </a:t>
            </a:r>
            <a:r>
              <a:rPr lang="en-US" dirty="0"/>
              <a:t> Gathering topographic maps or a high-resolution DEM, land use/cover data, soil data, and long-term rainfall data from weather stations. Data was obtained from different websites like kaggle.com</a:t>
            </a:r>
          </a:p>
          <a:p>
            <a:r>
              <a:rPr lang="en-US" b="1" dirty="0"/>
              <a:t>Catchment Delineation: </a:t>
            </a:r>
          </a:p>
          <a:p>
            <a:pPr marL="0" indent="0">
              <a:buNone/>
            </a:pPr>
            <a:r>
              <a:rPr lang="en-US" dirty="0" smtClean="0"/>
              <a:t>         Using </a:t>
            </a:r>
            <a:r>
              <a:rPr lang="en-US" dirty="0"/>
              <a:t>the methods above to define the study area boundaries and sub-basins.</a:t>
            </a:r>
          </a:p>
          <a:p>
            <a:r>
              <a:rPr lang="en-US" b="1" dirty="0"/>
              <a:t>Run-off Analysis:</a:t>
            </a:r>
          </a:p>
          <a:p>
            <a:pPr marL="0" indent="0">
              <a:buNone/>
            </a:pPr>
            <a:r>
              <a:rPr lang="en-US" dirty="0" smtClean="0"/>
              <a:t>        </a:t>
            </a:r>
            <a:r>
              <a:rPr lang="en-US" dirty="0"/>
              <a:t> Measuring or modeling run-off to understand the quantity, quality, and timing of water flow, often resulting in a runoff hydrograph.</a:t>
            </a:r>
          </a:p>
          <a:p>
            <a:r>
              <a:rPr lang="en-US" b="1" dirty="0"/>
              <a:t>Reporting and Application:</a:t>
            </a:r>
          </a:p>
          <a:p>
            <a:pPr marL="0" indent="0">
              <a:buNone/>
            </a:pPr>
            <a:r>
              <a:rPr lang="en-US" dirty="0" smtClean="0"/>
              <a:t>           </a:t>
            </a:r>
            <a:r>
              <a:rPr lang="en-US" dirty="0"/>
              <a:t> Using the results for planning drainage infrastructure, designing flood control measures, or assessing water availability. </a:t>
            </a:r>
          </a:p>
          <a:p>
            <a:endParaRPr lang="en-US" dirty="0"/>
          </a:p>
        </p:txBody>
      </p:sp>
    </p:spTree>
    <p:extLst>
      <p:ext uri="{BB962C8B-B14F-4D97-AF65-F5344CB8AC3E}">
        <p14:creationId xmlns:p14="http://schemas.microsoft.com/office/powerpoint/2010/main" val="4007826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2700" b="1" i="1" dirty="0"/>
              <a:t>GRAPHICAL USER INTERFACE (GUI):</a:t>
            </a:r>
            <a:r>
              <a:rPr lang="en-US" b="1" i="1" dirty="0"/>
              <a:t/>
            </a:r>
            <a:br>
              <a:rPr lang="en-US" b="1" i="1" dirty="0"/>
            </a:br>
            <a:r>
              <a:rPr lang="en-US" b="1" dirty="0"/>
              <a:t> </a:t>
            </a:r>
            <a:br>
              <a:rPr lang="en-US" b="1" dirty="0"/>
            </a:br>
            <a:endParaRPr lang="en-US" sz="2400" dirty="0"/>
          </a:p>
        </p:txBody>
      </p:sp>
      <p:sp>
        <p:nvSpPr>
          <p:cNvPr id="3" name="Content Placeholder 2"/>
          <p:cNvSpPr>
            <a:spLocks noGrp="1"/>
          </p:cNvSpPr>
          <p:nvPr>
            <p:ph idx="1"/>
          </p:nvPr>
        </p:nvSpPr>
        <p:spPr/>
        <p:txBody>
          <a:bodyPr/>
          <a:lstStyle/>
          <a:p>
            <a:r>
              <a:rPr lang="en-US" dirty="0"/>
              <a:t>This is an application developed to run different input data coded in to MATLAB.WE designed it in order to simplify and quickly have targeted data access about the project.</a:t>
            </a:r>
            <a:endParaRPr lang="en-US" b="1" dirty="0"/>
          </a:p>
          <a:p>
            <a:pPr marL="0" indent="0">
              <a:buNone/>
            </a:pPr>
            <a:r>
              <a:rPr lang="en-US" dirty="0"/>
              <a:t> </a:t>
            </a:r>
          </a:p>
          <a:p>
            <a:endParaRPr lang="en-US" dirty="0"/>
          </a:p>
        </p:txBody>
      </p:sp>
    </p:spTree>
    <p:extLst>
      <p:ext uri="{BB962C8B-B14F-4D97-AF65-F5344CB8AC3E}">
        <p14:creationId xmlns:p14="http://schemas.microsoft.com/office/powerpoint/2010/main" val="2237748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dirty="0"/>
              <a:t>CODE GENERATION</a:t>
            </a:r>
          </a:p>
        </p:txBody>
      </p:sp>
      <p:sp>
        <p:nvSpPr>
          <p:cNvPr id="3" name="Content Placeholder 2"/>
          <p:cNvSpPr>
            <a:spLocks noGrp="1"/>
          </p:cNvSpPr>
          <p:nvPr>
            <p:ph idx="1"/>
          </p:nvPr>
        </p:nvSpPr>
        <p:spPr/>
        <p:txBody>
          <a:bodyPr>
            <a:normAutofit/>
          </a:bodyPr>
          <a:lstStyle/>
          <a:p>
            <a:r>
              <a:rPr lang="en-US" dirty="0"/>
              <a:t>The code was generated following the ideas of classes, subclasses, encapsulation, inheritance, and polymorphism depending on the different datasets obtained from Kaggle.com based on a land site DEM dataset of Rwanda and Sponge –Village Run-off dataset</a:t>
            </a:r>
            <a:r>
              <a:rPr lang="en-US" dirty="0" smtClean="0"/>
              <a:t>.</a:t>
            </a:r>
            <a:r>
              <a:rPr lang="en-US" dirty="0"/>
              <a:t> </a:t>
            </a:r>
          </a:p>
          <a:p>
            <a:pPr marL="0" indent="0">
              <a:buNone/>
            </a:pPr>
            <a:r>
              <a:rPr lang="en-US" dirty="0"/>
              <a:t>We needed to build a hydrological simulation system capable of:</a:t>
            </a:r>
          </a:p>
          <a:p>
            <a:r>
              <a:rPr lang="en-US" dirty="0"/>
              <a:t>- Loading rainfall–runoff datasets.</a:t>
            </a:r>
          </a:p>
          <a:p>
            <a:r>
              <a:rPr lang="en-US" dirty="0"/>
              <a:t>- Loading DEM (Digital Elevation Model) data.</a:t>
            </a:r>
          </a:p>
          <a:p>
            <a:r>
              <a:rPr lang="en-US" dirty="0" smtClean="0"/>
              <a:t>- \Processing </a:t>
            </a:r>
            <a:r>
              <a:rPr lang="en-US" dirty="0"/>
              <a:t>the data visually and numerically</a:t>
            </a:r>
            <a:r>
              <a:rPr lang="en-US" dirty="0" smtClean="0"/>
              <a:t>.</a:t>
            </a:r>
          </a:p>
          <a:p>
            <a:r>
              <a:rPr lang="en-US" dirty="0" smtClean="0"/>
              <a:t> </a:t>
            </a:r>
            <a:r>
              <a:rPr lang="en-US" dirty="0"/>
              <a:t>Designing a MATLAB GUI that integrates these functions</a:t>
            </a:r>
          </a:p>
          <a:p>
            <a:endParaRPr lang="en-US" dirty="0"/>
          </a:p>
        </p:txBody>
      </p:sp>
    </p:spTree>
    <p:extLst>
      <p:ext uri="{BB962C8B-B14F-4D97-AF65-F5344CB8AC3E}">
        <p14:creationId xmlns:p14="http://schemas.microsoft.com/office/powerpoint/2010/main" val="4018897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dirty="0"/>
              <a:t>STEPS INVOLVED</a:t>
            </a:r>
          </a:p>
        </p:txBody>
      </p:sp>
      <p:sp>
        <p:nvSpPr>
          <p:cNvPr id="3" name="Content Placeholder 2"/>
          <p:cNvSpPr>
            <a:spLocks noGrp="1"/>
          </p:cNvSpPr>
          <p:nvPr>
            <p:ph idx="1"/>
          </p:nvPr>
        </p:nvSpPr>
        <p:spPr>
          <a:xfrm>
            <a:off x="838200" y="1825625"/>
            <a:ext cx="10515600" cy="4603310"/>
          </a:xfrm>
        </p:spPr>
        <p:txBody>
          <a:bodyPr>
            <a:normAutofit fontScale="92500" lnSpcReduction="20000"/>
          </a:bodyPr>
          <a:lstStyle/>
          <a:p>
            <a:r>
              <a:rPr lang="en-US" sz="1600" b="1" dirty="0"/>
              <a:t>Step.1 data set identification.</a:t>
            </a:r>
          </a:p>
          <a:p>
            <a:pPr marL="0" indent="0">
              <a:buNone/>
            </a:pPr>
            <a:r>
              <a:rPr lang="en-US" sz="1600" dirty="0" smtClean="0"/>
              <a:t>           </a:t>
            </a:r>
            <a:r>
              <a:rPr lang="en-US" sz="1600" dirty="0"/>
              <a:t>It represents the data requirements and problem analysis phase were we examined the structure, type and format hydrological data sets before building any </a:t>
            </a:r>
            <a:r>
              <a:rPr lang="en-US" sz="1600" dirty="0" smtClean="0"/>
              <a:t>code i.e. Rainfall </a:t>
            </a:r>
            <a:r>
              <a:rPr lang="en-US" sz="1600" dirty="0"/>
              <a:t>dataset (Excel file</a:t>
            </a:r>
            <a:r>
              <a:rPr lang="en-US" sz="1600" dirty="0" smtClean="0"/>
              <a:t>) and DEM </a:t>
            </a:r>
            <a:r>
              <a:rPr lang="en-US" sz="1600" dirty="0"/>
              <a:t>dataset folder</a:t>
            </a:r>
          </a:p>
          <a:p>
            <a:pPr marL="0" indent="0">
              <a:buNone/>
            </a:pPr>
            <a:r>
              <a:rPr lang="en-US" b="1" dirty="0" smtClean="0"/>
              <a:t>.  </a:t>
            </a:r>
            <a:r>
              <a:rPr lang="en-US" sz="1600" b="1" dirty="0" smtClean="0"/>
              <a:t>Step.2 </a:t>
            </a:r>
            <a:r>
              <a:rPr lang="en-US" sz="1600" b="1" dirty="0"/>
              <a:t>Preprocess.</a:t>
            </a:r>
          </a:p>
          <a:p>
            <a:pPr marL="0" indent="0">
              <a:buNone/>
            </a:pPr>
            <a:r>
              <a:rPr lang="en-US" sz="1600" dirty="0" smtClean="0"/>
              <a:t>     It </a:t>
            </a:r>
            <a:r>
              <a:rPr lang="en-US" sz="1600" dirty="0"/>
              <a:t>involves creating a clean DEM to correctly compute run-off, flow routing, watershed shape and drainage networks</a:t>
            </a:r>
          </a:p>
          <a:p>
            <a:r>
              <a:rPr lang="en-US" sz="1700" b="1" dirty="0"/>
              <a:t>Step.3. DEM pour point</a:t>
            </a:r>
            <a:r>
              <a:rPr lang="en-US" sz="1700" b="1" dirty="0" smtClean="0"/>
              <a:t>.</a:t>
            </a:r>
            <a:r>
              <a:rPr lang="en-US" b="1" dirty="0"/>
              <a:t> </a:t>
            </a:r>
            <a:endParaRPr lang="en-US" dirty="0"/>
          </a:p>
          <a:p>
            <a:pPr marL="0" indent="0">
              <a:buNone/>
            </a:pPr>
            <a:r>
              <a:rPr lang="en-US" sz="1600" dirty="0" smtClean="0"/>
              <a:t>      It inputs and defines the outlet (pour points) of the catchment (Rwanda DEM). It also indicates the exact location of the pour point and a hydrologically-correct DEM to the actual delineate water shed</a:t>
            </a:r>
          </a:p>
          <a:p>
            <a:r>
              <a:rPr lang="en-US" sz="1500" b="1" dirty="0" smtClean="0"/>
              <a:t>Step.4.Delineate </a:t>
            </a:r>
            <a:r>
              <a:rPr lang="en-US" sz="1500" b="1" dirty="0"/>
              <a:t>catchment</a:t>
            </a:r>
            <a:r>
              <a:rPr lang="en-US" sz="1500" b="1" dirty="0" smtClean="0"/>
              <a:t>.</a:t>
            </a:r>
            <a:r>
              <a:rPr lang="en-US" sz="1500" b="1" dirty="0"/>
              <a:t> </a:t>
            </a:r>
            <a:endParaRPr lang="en-US" sz="1500" b="1" dirty="0" smtClean="0"/>
          </a:p>
          <a:p>
            <a:pPr marL="0" indent="0">
              <a:buNone/>
            </a:pPr>
            <a:r>
              <a:rPr lang="en-US" sz="1500" dirty="0" smtClean="0"/>
              <a:t>         It creates the boundary of the catchment based on the DEM and pour point. It ensures that hydrological models must run only on the catchment area, not the whole DEM.</a:t>
            </a:r>
          </a:p>
          <a:p>
            <a:r>
              <a:rPr lang="en-US" sz="2100" b="1" dirty="0" smtClean="0"/>
              <a:t>Step.5</a:t>
            </a:r>
            <a:r>
              <a:rPr lang="en-US" sz="2100" b="1" dirty="0"/>
              <a:t>. Compute area</a:t>
            </a:r>
            <a:r>
              <a:rPr lang="en-US" sz="2100" b="1" dirty="0" smtClean="0"/>
              <a:t>.</a:t>
            </a:r>
            <a:endParaRPr lang="en-US" sz="2100" dirty="0"/>
          </a:p>
          <a:p>
            <a:pPr marL="0" indent="0">
              <a:buNone/>
            </a:pPr>
            <a:r>
              <a:rPr lang="en-US" sz="2100" dirty="0" smtClean="0"/>
              <a:t>       It </a:t>
            </a:r>
            <a:r>
              <a:rPr lang="en-US" sz="2100" dirty="0"/>
              <a:t>quantifies the characteristics needed by hydrological models for computing catchment physical properties..</a:t>
            </a:r>
          </a:p>
          <a:p>
            <a:r>
              <a:rPr lang="en-US" dirty="0"/>
              <a:t> </a:t>
            </a:r>
          </a:p>
          <a:p>
            <a:endParaRPr lang="en-US" sz="1500" dirty="0"/>
          </a:p>
        </p:txBody>
      </p:sp>
    </p:spTree>
    <p:extLst>
      <p:ext uri="{BB962C8B-B14F-4D97-AF65-F5344CB8AC3E}">
        <p14:creationId xmlns:p14="http://schemas.microsoft.com/office/powerpoint/2010/main" val="3636765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dirty="0" smtClean="0"/>
              <a:t>CLASSES &amp; SUB CLASSES</a:t>
            </a:r>
            <a:endParaRPr lang="en-US" sz="2800" dirty="0"/>
          </a:p>
        </p:txBody>
      </p:sp>
      <p:sp>
        <p:nvSpPr>
          <p:cNvPr id="3" name="Content Placeholder 2"/>
          <p:cNvSpPr>
            <a:spLocks noGrp="1"/>
          </p:cNvSpPr>
          <p:nvPr>
            <p:ph idx="1"/>
          </p:nvPr>
        </p:nvSpPr>
        <p:spPr/>
        <p:txBody>
          <a:bodyPr/>
          <a:lstStyle/>
          <a:p>
            <a:r>
              <a:rPr lang="en-US" dirty="0" smtClean="0"/>
              <a:t>Catchment model </a:t>
            </a:r>
          </a:p>
          <a:p>
            <a:r>
              <a:rPr lang="en-US" dirty="0" smtClean="0"/>
              <a:t>Hydro model</a:t>
            </a:r>
          </a:p>
          <a:p>
            <a:r>
              <a:rPr lang="en-US" dirty="0" smtClean="0"/>
              <a:t>Rational model</a:t>
            </a:r>
          </a:p>
          <a:p>
            <a:r>
              <a:rPr lang="en-US" dirty="0" smtClean="0"/>
              <a:t>Run-simulation dataset</a:t>
            </a:r>
          </a:p>
          <a:p>
            <a:r>
              <a:rPr lang="en-US" dirty="0" smtClean="0"/>
              <a:t>soil</a:t>
            </a:r>
            <a:r>
              <a:rPr lang="en-US" b="1" dirty="0" smtClean="0"/>
              <a:t> </a:t>
            </a:r>
            <a:r>
              <a:rPr lang="en-US" dirty="0" smtClean="0"/>
              <a:t>conservation service curve number method </a:t>
            </a:r>
            <a:endParaRPr lang="en-US" dirty="0"/>
          </a:p>
        </p:txBody>
      </p:sp>
    </p:spTree>
    <p:extLst>
      <p:ext uri="{BB962C8B-B14F-4D97-AF65-F5344CB8AC3E}">
        <p14:creationId xmlns:p14="http://schemas.microsoft.com/office/powerpoint/2010/main" val="3759574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dirty="0" smtClean="0"/>
              <a:t>GRAPHS INVOLVED</a:t>
            </a:r>
            <a:endParaRPr lang="en-US" sz="2800" dirty="0"/>
          </a:p>
        </p:txBody>
      </p:sp>
    </p:spTree>
    <p:extLst>
      <p:ext uri="{BB962C8B-B14F-4D97-AF65-F5344CB8AC3E}">
        <p14:creationId xmlns:p14="http://schemas.microsoft.com/office/powerpoint/2010/main" val="934783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MUTU\Desktop\water catchment project\DEM\DEM_1.png"/>
          <p:cNvPicPr/>
          <p:nvPr/>
        </p:nvPicPr>
        <p:blipFill>
          <a:blip r:embed="rId2">
            <a:extLst>
              <a:ext uri="{28A0092B-C50C-407E-A947-70E740481C1C}">
                <a14:useLocalDpi xmlns:a14="http://schemas.microsoft.com/office/drawing/2010/main" val="0"/>
              </a:ext>
            </a:extLst>
          </a:blip>
          <a:srcRect/>
          <a:stretch>
            <a:fillRect/>
          </a:stretch>
        </p:blipFill>
        <p:spPr bwMode="auto">
          <a:xfrm>
            <a:off x="2391508" y="520505"/>
            <a:ext cx="8679766" cy="6337495"/>
          </a:xfrm>
          <a:prstGeom prst="rect">
            <a:avLst/>
          </a:prstGeom>
          <a:noFill/>
          <a:ln>
            <a:noFill/>
          </a:ln>
        </p:spPr>
      </p:pic>
    </p:spTree>
    <p:extLst>
      <p:ext uri="{BB962C8B-B14F-4D97-AF65-F5344CB8AC3E}">
        <p14:creationId xmlns:p14="http://schemas.microsoft.com/office/powerpoint/2010/main" val="4220593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MUTU\Desktop\water catchment project\DEM\DEM_2.png"/>
          <p:cNvPicPr/>
          <p:nvPr/>
        </p:nvPicPr>
        <p:blipFill>
          <a:blip r:embed="rId2">
            <a:extLst>
              <a:ext uri="{28A0092B-C50C-407E-A947-70E740481C1C}">
                <a14:useLocalDpi xmlns:a14="http://schemas.microsoft.com/office/drawing/2010/main" val="0"/>
              </a:ext>
            </a:extLst>
          </a:blip>
          <a:srcRect/>
          <a:stretch>
            <a:fillRect/>
          </a:stretch>
        </p:blipFill>
        <p:spPr bwMode="auto">
          <a:xfrm>
            <a:off x="1336431" y="506437"/>
            <a:ext cx="8721969" cy="6077243"/>
          </a:xfrm>
          <a:prstGeom prst="rect">
            <a:avLst/>
          </a:prstGeom>
          <a:noFill/>
          <a:ln>
            <a:noFill/>
          </a:ln>
        </p:spPr>
      </p:pic>
    </p:spTree>
    <p:extLst>
      <p:ext uri="{BB962C8B-B14F-4D97-AF65-F5344CB8AC3E}">
        <p14:creationId xmlns:p14="http://schemas.microsoft.com/office/powerpoint/2010/main" val="1191936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MUTU\Desktop\water catchment project\DEM\dem.png"/>
          <p:cNvPicPr/>
          <p:nvPr/>
        </p:nvPicPr>
        <p:blipFill>
          <a:blip r:embed="rId2">
            <a:extLst>
              <a:ext uri="{28A0092B-C50C-407E-A947-70E740481C1C}">
                <a14:useLocalDpi xmlns:a14="http://schemas.microsoft.com/office/drawing/2010/main" val="0"/>
              </a:ext>
            </a:extLst>
          </a:blip>
          <a:srcRect/>
          <a:stretch>
            <a:fillRect/>
          </a:stretch>
        </p:blipFill>
        <p:spPr bwMode="auto">
          <a:xfrm>
            <a:off x="970671" y="576775"/>
            <a:ext cx="8947052" cy="5922499"/>
          </a:xfrm>
          <a:prstGeom prst="rect">
            <a:avLst/>
          </a:prstGeom>
          <a:noFill/>
          <a:ln>
            <a:noFill/>
          </a:ln>
        </p:spPr>
      </p:pic>
    </p:spTree>
    <p:extLst>
      <p:ext uri="{BB962C8B-B14F-4D97-AF65-F5344CB8AC3E}">
        <p14:creationId xmlns:p14="http://schemas.microsoft.com/office/powerpoint/2010/main" val="1843692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dirty="0" smtClean="0"/>
              <a:t>CONCLUSION</a:t>
            </a:r>
            <a:endParaRPr lang="en-US" sz="2800" dirty="0"/>
          </a:p>
        </p:txBody>
      </p:sp>
      <p:sp>
        <p:nvSpPr>
          <p:cNvPr id="3" name="Content Placeholder 2"/>
          <p:cNvSpPr>
            <a:spLocks noGrp="1"/>
          </p:cNvSpPr>
          <p:nvPr>
            <p:ph idx="1"/>
          </p:nvPr>
        </p:nvSpPr>
        <p:spPr/>
        <p:txBody>
          <a:bodyPr/>
          <a:lstStyle/>
          <a:p>
            <a:r>
              <a:rPr lang="en-US" dirty="0"/>
              <a:t> </a:t>
            </a:r>
          </a:p>
          <a:p>
            <a:r>
              <a:rPr lang="en-US" dirty="0"/>
              <a:t>The assignment was successful since there was maximum cooperation among group 11 members. It exposed us to the different computation skills, engineering and design knowledge. Through this assignment we were exposed on different methods of data collection i.e. from Kaggle.com and how to manipulate and visualize it.</a:t>
            </a:r>
          </a:p>
          <a:p>
            <a:r>
              <a:rPr lang="en-US" dirty="0"/>
              <a:t> </a:t>
            </a:r>
          </a:p>
          <a:p>
            <a:endParaRPr lang="en-US" dirty="0"/>
          </a:p>
        </p:txBody>
      </p:sp>
    </p:spTree>
    <p:extLst>
      <p:ext uri="{BB962C8B-B14F-4D97-AF65-F5344CB8AC3E}">
        <p14:creationId xmlns:p14="http://schemas.microsoft.com/office/powerpoint/2010/main" val="22358967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TotalTime>
  <Words>1223</Words>
  <Application>Microsoft Office PowerPoint</Application>
  <PresentationFormat>Widescreen</PresentationFormat>
  <Paragraphs>132</Paragraphs>
  <Slides>17</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Arial</vt:lpstr>
      <vt:lpstr>Calibri</vt:lpstr>
      <vt:lpstr>Calibri Light</vt:lpstr>
      <vt:lpstr>Century Gothic</vt:lpstr>
      <vt:lpstr>Garamond</vt:lpstr>
      <vt:lpstr>Times New Roman</vt:lpstr>
      <vt:lpstr>Savon</vt:lpstr>
      <vt:lpstr>Custom Design</vt:lpstr>
      <vt:lpstr>A PRESENTETION ABOUT HYDROLOGICAL CATCHMENT DELINEATION AND RUN-OFF MEASUREMENT PROJECT &amp; A DEVELOPED PROFFESSIONAL GRAPHICAL USER INTERFACE (GUI). </vt:lpstr>
      <vt:lpstr>PRESENTED BY GROUP 11 MEMBERS.</vt:lpstr>
      <vt:lpstr>    INTRODUCTION</vt:lpstr>
      <vt:lpstr>HYDROLOGICAL CATCHMENT DELINEATION</vt:lpstr>
      <vt:lpstr>Methods continuation</vt:lpstr>
      <vt:lpstr>RUN-OFF MEASUREMENT</vt:lpstr>
      <vt:lpstr>MODELING AND ESTIMATION</vt:lpstr>
      <vt:lpstr>. PROJECT COMPONENTS</vt:lpstr>
      <vt:lpstr>GRAPHICAL USER INTERFACE (GUI):   </vt:lpstr>
      <vt:lpstr>CODE GENERATION</vt:lpstr>
      <vt:lpstr>STEPS INVOLVED</vt:lpstr>
      <vt:lpstr>CLASSES &amp; SUB CLASSES</vt:lpstr>
      <vt:lpstr>GRAPHS INVOLVED</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PRESENTETION ABOUT HYDROLOGICAL CATCHMENT DELINEATION AND RUN-OFF MEASUREMENT PROJECT &amp; A DEVELOPED PROFFESSIONAL GRAPHICAL USER INTERFACE (GUI). </dc:title>
  <dc:creator>HASS ENG.COMPAMY</dc:creator>
  <cp:lastModifiedBy>HASS ENG.COMPAMY</cp:lastModifiedBy>
  <cp:revision>13</cp:revision>
  <dcterms:created xsi:type="dcterms:W3CDTF">2025-11-10T19:16:21Z</dcterms:created>
  <dcterms:modified xsi:type="dcterms:W3CDTF">2025-11-10T20:23:21Z</dcterms:modified>
</cp:coreProperties>
</file>